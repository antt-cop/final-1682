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56" r:id="rId2"/>
    <p:sldId id="397" r:id="rId3"/>
    <p:sldId id="398" r:id="rId4"/>
    <p:sldId id="257" r:id="rId5"/>
    <p:sldId id="258" r:id="rId6"/>
    <p:sldId id="259" r:id="rId7"/>
    <p:sldId id="260" r:id="rId8"/>
    <p:sldId id="261" r:id="rId9"/>
    <p:sldId id="262" r:id="rId10"/>
    <p:sldId id="263" r:id="rId11"/>
    <p:sldId id="399" r:id="rId12"/>
    <p:sldId id="400"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840" autoAdjust="0"/>
  </p:normalViewPr>
  <p:slideViewPr>
    <p:cSldViewPr snapToGrid="0" snapToObjects="1">
      <p:cViewPr varScale="1">
        <p:scale>
          <a:sx n="75" d="100"/>
          <a:sy n="75" d="100"/>
        </p:scale>
        <p:origin x="2100"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C0374E-9CCB-4D67-932F-25D22F221D85}" type="datetimeFigureOut">
              <a:rPr lang="en-US" smtClean="0"/>
              <a:t>1/29/2026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AA92A-AE54-4871-94C0-FE0224D5C2F0}" type="slidenum">
              <a:rPr lang="en-US" smtClean="0"/>
              <a:t>‹#›</a:t>
            </a:fld>
            <a:endParaRPr lang="en-US"/>
          </a:p>
        </p:txBody>
      </p:sp>
    </p:spTree>
    <p:extLst>
      <p:ext uri="{BB962C8B-B14F-4D97-AF65-F5344CB8AC3E}">
        <p14:creationId xmlns:p14="http://schemas.microsoft.com/office/powerpoint/2010/main" val="2806965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pPr lvl="0"/>
            <a:fld id="{9407F39C-77C9-44B7-89E6-376FADA51F5C}" type="slidenum">
              <a:rPr lang="en-US" smtClean="0"/>
              <a:t>2</a:t>
            </a:fld>
            <a:endParaRPr lang="en-US"/>
          </a:p>
        </p:txBody>
      </p:sp>
    </p:spTree>
    <p:extLst>
      <p:ext uri="{BB962C8B-B14F-4D97-AF65-F5344CB8AC3E}">
        <p14:creationId xmlns:p14="http://schemas.microsoft.com/office/powerpoint/2010/main" val="4181134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b="1" dirty="0" err="1"/>
              <a:t>Mục</a:t>
            </a:r>
            <a:r>
              <a:rPr lang="en-US" b="1" dirty="0"/>
              <a:t> </a:t>
            </a:r>
            <a:r>
              <a:rPr lang="en-US" b="1" dirty="0" err="1"/>
              <a:t>tiêu</a:t>
            </a:r>
            <a:r>
              <a:rPr lang="en-US" b="1" dirty="0"/>
              <a:t>:</a:t>
            </a:r>
            <a:br>
              <a:rPr lang="en-US" dirty="0"/>
            </a:br>
            <a:r>
              <a:rPr lang="en-US" i="1" dirty="0"/>
              <a:t>To increase emergency room capacity by 20% and reduce average patient waiting time by 50% through a reconfiguration and process improvement project to be completed in 12 months and within a £40,000 budget.</a:t>
            </a:r>
            <a:endParaRPr lang="en-US" b="1" dirty="0"/>
          </a:p>
          <a:p>
            <a:r>
              <a:rPr lang="vi-VN" b="1" dirty="0"/>
              <a:t>Specific (Cụ thể):</a:t>
            </a:r>
            <a:br>
              <a:rPr lang="vi-VN" dirty="0"/>
            </a:br>
            <a:r>
              <a:rPr lang="vi-VN" dirty="0"/>
              <a:t>Tăng công suất phòng cấp cứu và giảm thời gian chờ trung bình của bệnh nhân thông qua tái cấu trúc và cải tiến quy trình.</a:t>
            </a:r>
          </a:p>
          <a:p>
            <a:r>
              <a:rPr lang="vi-VN" b="1" dirty="0"/>
              <a:t>Measurable (Đo lường được):</a:t>
            </a:r>
            <a:endParaRPr lang="vi-VN" dirty="0"/>
          </a:p>
          <a:p>
            <a:pPr marL="171450" indent="-171450">
              <a:buFont typeface="Arial" panose="020B0604020202020204" pitchFamily="34" charset="0"/>
              <a:buChar char="•"/>
            </a:pPr>
            <a:r>
              <a:rPr lang="vi-VN" dirty="0"/>
              <a:t>Tăng công suất </a:t>
            </a:r>
            <a:r>
              <a:rPr lang="vi-VN" b="1" dirty="0"/>
              <a:t>20%</a:t>
            </a:r>
            <a:endParaRPr lang="vi-VN" dirty="0"/>
          </a:p>
          <a:p>
            <a:pPr marL="171450" indent="-171450">
              <a:buFont typeface="Arial" panose="020B0604020202020204" pitchFamily="34" charset="0"/>
              <a:buChar char="•"/>
            </a:pPr>
            <a:r>
              <a:rPr lang="vi-VN" dirty="0"/>
              <a:t>Giảm thời gian chờ </a:t>
            </a:r>
            <a:r>
              <a:rPr lang="vi-VN" b="1" dirty="0"/>
              <a:t>50%</a:t>
            </a:r>
            <a:endParaRPr lang="vi-VN" dirty="0"/>
          </a:p>
          <a:p>
            <a:pPr marL="171450" indent="-171450">
              <a:buFont typeface="Arial" panose="020B0604020202020204" pitchFamily="34" charset="0"/>
              <a:buChar char="•"/>
            </a:pPr>
            <a:r>
              <a:rPr lang="vi-VN" dirty="0"/>
              <a:t>Ngân sách </a:t>
            </a:r>
            <a:r>
              <a:rPr lang="vi-VN" b="1" dirty="0"/>
              <a:t>£40,000</a:t>
            </a:r>
            <a:endParaRPr lang="vi-VN" dirty="0"/>
          </a:p>
          <a:p>
            <a:r>
              <a:rPr lang="vi-VN" b="1" dirty="0"/>
              <a:t>Achievable (Khả thi):</a:t>
            </a:r>
            <a:br>
              <a:rPr lang="vi-VN" dirty="0"/>
            </a:br>
            <a:r>
              <a:rPr lang="vi-VN" dirty="0"/>
              <a:t>Mục tiêu được giới hạn trong phạm vi cải tiến quy trình và tái cấu trúc, không yêu cầu xây dựng mới, phù hợp với nguồn lực tài chính cho phép.</a:t>
            </a:r>
          </a:p>
          <a:p>
            <a:r>
              <a:rPr lang="vi-VN" b="1" dirty="0"/>
              <a:t>Relevant (Liên quan):</a:t>
            </a:r>
            <a:br>
              <a:rPr lang="vi-VN" dirty="0"/>
            </a:br>
            <a:r>
              <a:rPr lang="vi-VN" dirty="0"/>
              <a:t>Trực tiếp giải quyết các vấn đề cốt lõi của dịch vụ y tế: quá tải và thời gian chờ đợi của bệnh nhân.</a:t>
            </a:r>
          </a:p>
          <a:p>
            <a:r>
              <a:rPr lang="vi-VN" b="1" dirty="0"/>
              <a:t>Time-bound (Có thời hạn):</a:t>
            </a:r>
            <a:br>
              <a:rPr lang="vi-VN" dirty="0"/>
            </a:br>
            <a:r>
              <a:rPr lang="vi-VN" dirty="0"/>
              <a:t>Hoàn thành trong </a:t>
            </a:r>
            <a:r>
              <a:rPr lang="vi-VN" b="1" dirty="0"/>
              <a:t>12 tháng</a:t>
            </a:r>
            <a:r>
              <a:rPr lang="vi-VN" dirty="0"/>
              <a:t>.</a:t>
            </a:r>
          </a:p>
          <a:p>
            <a:endParaRPr lang="en-US" dirty="0"/>
          </a:p>
        </p:txBody>
      </p:sp>
      <p:sp>
        <p:nvSpPr>
          <p:cNvPr id="4" name="Slide Number Placeholder 3"/>
          <p:cNvSpPr>
            <a:spLocks noGrp="1"/>
          </p:cNvSpPr>
          <p:nvPr>
            <p:ph type="sldNum" sz="quarter" idx="5"/>
          </p:nvPr>
        </p:nvSpPr>
        <p:spPr/>
        <p:txBody>
          <a:bodyPr/>
          <a:lstStyle/>
          <a:p>
            <a:pPr lvl="0"/>
            <a:fld id="{9407F39C-77C9-44B7-89E6-376FADA51F5C}" type="slidenum">
              <a:rPr lang="en-US" smtClean="0"/>
              <a:t>3</a:t>
            </a:fld>
            <a:endParaRPr lang="en-US"/>
          </a:p>
        </p:txBody>
      </p:sp>
    </p:spTree>
    <p:extLst>
      <p:ext uri="{BB962C8B-B14F-4D97-AF65-F5344CB8AC3E}">
        <p14:creationId xmlns:p14="http://schemas.microsoft.com/office/powerpoint/2010/main" val="2475276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8940247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19287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972282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BCAD085-E8A6-8845-BD4E-CB4CCA059FC4}" type="datetimeFigureOut">
              <a:rPr lang="en-US" smtClean="0"/>
              <a:t>1/29/2026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2396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2239" y="3143250"/>
            <a:ext cx="3288024"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786695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6237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01361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5BCAD085-E8A6-8845-BD4E-CB4CCA059FC4}" type="datetimeFigureOut">
              <a:rPr lang="en-US" smtClean="0"/>
              <a:t>1/29/2026</a:t>
            </a:fld>
            <a:endParaRPr lang="en-US"/>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45938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572000" y="-42172"/>
            <a:ext cx="4576573"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BCAD085-E8A6-8845-BD4E-CB4CCA059FC4}" type="datetimeFigureOut">
              <a:rPr lang="en-US" smtClean="0"/>
              <a:t>1/29/2026</a:t>
            </a:fld>
            <a:endParaRPr lang="en-US"/>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67859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2652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72824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5BCAD085-E8A6-8845-BD4E-CB4CCA059FC4}" type="datetimeFigureOut">
              <a:rPr lang="en-US" smtClean="0"/>
              <a:t>1/29/2026</a:t>
            </a:fld>
            <a:endParaRPr lang="en-US"/>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9650065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63829" y="2100657"/>
            <a:ext cx="8016342" cy="1470025"/>
          </a:xfrm>
        </p:spPr>
        <p:txBody>
          <a:bodyPr/>
          <a:lstStyle/>
          <a:p>
            <a:r>
              <a:rPr dirty="0"/>
              <a:t>Objectives </a:t>
            </a:r>
            <a:r>
              <a:rPr dirty="0" err="1"/>
              <a:t>của</a:t>
            </a:r>
            <a:r>
              <a:rPr dirty="0"/>
              <a:t> </a:t>
            </a:r>
            <a:r>
              <a:rPr dirty="0" err="1"/>
              <a:t>Dự</a:t>
            </a:r>
            <a:r>
              <a:rPr dirty="0"/>
              <a:t> </a:t>
            </a:r>
            <a:r>
              <a:rPr dirty="0" err="1"/>
              <a:t>án</a:t>
            </a:r>
            <a:r>
              <a:rPr dirty="0"/>
              <a:t> </a:t>
            </a:r>
            <a:r>
              <a:rPr lang="en-US" dirty="0"/>
              <a:t>E-commerce</a:t>
            </a:r>
            <a:endParaRPr dirty="0"/>
          </a:p>
        </p:txBody>
      </p:sp>
      <p:sp>
        <p:nvSpPr>
          <p:cNvPr id="3" name="Subtitle 2"/>
          <p:cNvSpPr>
            <a:spLocks noGrp="1"/>
          </p:cNvSpPr>
          <p:nvPr>
            <p:ph type="subTitle" idx="1"/>
          </p:nvPr>
        </p:nvSpPr>
        <p:spPr/>
        <p:txBody>
          <a:bodyPr/>
          <a:lstStyle/>
          <a:p>
            <a:r>
              <a:t>Tổng quan các mục tiêu chính của dự án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836080" y="566470"/>
            <a:ext cx="7200900" cy="750094"/>
          </a:xfrm>
        </p:spPr>
        <p:txBody>
          <a:bodyPr>
            <a:normAutofit/>
          </a:bodyPr>
          <a:lstStyle/>
          <a:p>
            <a:pPr lvl="0"/>
            <a:r>
              <a:rPr lang="en-GB" dirty="0"/>
              <a:t>What are SMART objectives?</a:t>
            </a:r>
          </a:p>
        </p:txBody>
      </p:sp>
      <p:pic>
        <p:nvPicPr>
          <p:cNvPr id="3" name="Content Placeholder 2"/>
          <p:cNvPicPr>
            <a:picLocks noGrp="1" noChangeAspect="1"/>
          </p:cNvPicPr>
          <p:nvPr>
            <p:ph idx="1"/>
          </p:nvPr>
        </p:nvPicPr>
        <p:blipFill>
          <a:blip r:embed="rId3"/>
          <a:stretch>
            <a:fillRect/>
          </a:stretch>
        </p:blipFill>
        <p:spPr>
          <a:xfrm>
            <a:off x="512926" y="1828801"/>
            <a:ext cx="8118148" cy="4766732"/>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1606045" y="566759"/>
            <a:ext cx="5937755" cy="1188720"/>
          </a:xfrm>
        </p:spPr>
        <p:txBody>
          <a:bodyPr/>
          <a:lstStyle/>
          <a:p>
            <a:pPr lvl="0"/>
            <a:r>
              <a:rPr lang="en-GB" dirty="0"/>
              <a:t>Examples of SMART Objectives</a:t>
            </a:r>
          </a:p>
        </p:txBody>
      </p:sp>
      <p:sp>
        <p:nvSpPr>
          <p:cNvPr id="3" name="Rectangle 3"/>
          <p:cNvSpPr txBox="1">
            <a:spLocks noGrp="1"/>
          </p:cNvSpPr>
          <p:nvPr>
            <p:ph idx="1"/>
          </p:nvPr>
        </p:nvSpPr>
        <p:spPr>
          <a:xfrm>
            <a:off x="457200" y="2040467"/>
            <a:ext cx="8102599" cy="4114800"/>
          </a:xfrm>
        </p:spPr>
        <p:txBody>
          <a:bodyPr>
            <a:noAutofit/>
          </a:bodyPr>
          <a:lstStyle/>
          <a:p>
            <a:pPr algn="just">
              <a:lnSpc>
                <a:spcPct val="90000"/>
              </a:lnSpc>
              <a:spcBef>
                <a:spcPts val="150"/>
              </a:spcBef>
              <a:defRPr/>
            </a:pPr>
            <a:r>
              <a:rPr lang="en-US" sz="2800" dirty="0">
                <a:latin typeface="Calibri" panose="020F0502020204030204" pitchFamily="34" charset="0"/>
                <a:ea typeface="Calibri" panose="020F0502020204030204" pitchFamily="34" charset="0"/>
                <a:cs typeface="Calibri" panose="020F0502020204030204" pitchFamily="34" charset="0"/>
              </a:rPr>
              <a:t>To </a:t>
            </a:r>
            <a:r>
              <a:rPr lang="en-US" sz="2800" u="sng" dirty="0">
                <a:latin typeface="Calibri" panose="020F0502020204030204" pitchFamily="34" charset="0"/>
                <a:ea typeface="Calibri" panose="020F0502020204030204" pitchFamily="34" charset="0"/>
                <a:cs typeface="Calibri" panose="020F0502020204030204" pitchFamily="34" charset="0"/>
              </a:rPr>
              <a:t>increase </a:t>
            </a:r>
            <a:r>
              <a:rPr lang="en-US" sz="2800" dirty="0">
                <a:latin typeface="Calibri" panose="020F0502020204030204" pitchFamily="34" charset="0"/>
                <a:ea typeface="Calibri" panose="020F0502020204030204" pitchFamily="34" charset="0"/>
                <a:cs typeface="Calibri" panose="020F0502020204030204" pitchFamily="34" charset="0"/>
              </a:rPr>
              <a:t>emergency room capacity </a:t>
            </a:r>
            <a:r>
              <a:rPr lang="en-US" sz="2800" u="sng" dirty="0">
                <a:latin typeface="Calibri" panose="020F0502020204030204" pitchFamily="34" charset="0"/>
                <a:ea typeface="Calibri" panose="020F0502020204030204" pitchFamily="34" charset="0"/>
                <a:cs typeface="Calibri" panose="020F0502020204030204" pitchFamily="34" charset="0"/>
              </a:rPr>
              <a:t>by 20 % </a:t>
            </a:r>
            <a:r>
              <a:rPr lang="en-US" sz="2800" dirty="0">
                <a:latin typeface="Calibri" panose="020F0502020204030204" pitchFamily="34" charset="0"/>
                <a:ea typeface="Calibri" panose="020F0502020204030204" pitchFamily="34" charset="0"/>
                <a:cs typeface="Calibri" panose="020F0502020204030204" pitchFamily="34" charset="0"/>
              </a:rPr>
              <a:t>and </a:t>
            </a:r>
            <a:r>
              <a:rPr lang="en-US" sz="2800" u="sng" dirty="0">
                <a:latin typeface="Calibri" panose="020F0502020204030204" pitchFamily="34" charset="0"/>
                <a:ea typeface="Calibri" panose="020F0502020204030204" pitchFamily="34" charset="0"/>
                <a:cs typeface="Calibri" panose="020F0502020204030204" pitchFamily="34" charset="0"/>
              </a:rPr>
              <a:t>reduce </a:t>
            </a:r>
            <a:r>
              <a:rPr lang="en-US" sz="2800" dirty="0">
                <a:latin typeface="Calibri" panose="020F0502020204030204" pitchFamily="34" charset="0"/>
                <a:ea typeface="Calibri" panose="020F0502020204030204" pitchFamily="34" charset="0"/>
                <a:cs typeface="Calibri" panose="020F0502020204030204" pitchFamily="34" charset="0"/>
              </a:rPr>
              <a:t>average patient waiting time </a:t>
            </a:r>
            <a:r>
              <a:rPr lang="en-US" sz="2800" u="sng" dirty="0">
                <a:latin typeface="Calibri" panose="020F0502020204030204" pitchFamily="34" charset="0"/>
                <a:ea typeface="Calibri" panose="020F0502020204030204" pitchFamily="34" charset="0"/>
                <a:cs typeface="Calibri" panose="020F0502020204030204" pitchFamily="34" charset="0"/>
              </a:rPr>
              <a:t>by 50 % </a:t>
            </a:r>
            <a:r>
              <a:rPr lang="en-US" sz="2800" dirty="0">
                <a:latin typeface="Calibri" panose="020F0502020204030204" pitchFamily="34" charset="0"/>
                <a:ea typeface="Calibri" panose="020F0502020204030204" pitchFamily="34" charset="0"/>
                <a:cs typeface="Calibri" panose="020F0502020204030204" pitchFamily="34" charset="0"/>
              </a:rPr>
              <a:t>through a reconfiguration and process improvement project to be completed in </a:t>
            </a:r>
            <a:r>
              <a:rPr lang="en-US" sz="2800" b="1" u="sng" dirty="0">
                <a:latin typeface="Calibri" panose="020F0502020204030204" pitchFamily="34" charset="0"/>
                <a:ea typeface="Calibri" panose="020F0502020204030204" pitchFamily="34" charset="0"/>
                <a:cs typeface="Calibri" panose="020F0502020204030204" pitchFamily="34" charset="0"/>
              </a:rPr>
              <a:t>12 months </a:t>
            </a:r>
            <a:r>
              <a:rPr lang="en-US" sz="2800" dirty="0">
                <a:latin typeface="Calibri" panose="020F0502020204030204" pitchFamily="34" charset="0"/>
                <a:ea typeface="Calibri" panose="020F0502020204030204" pitchFamily="34" charset="0"/>
                <a:cs typeface="Calibri" panose="020F0502020204030204" pitchFamily="34" charset="0"/>
              </a:rPr>
              <a:t>and within </a:t>
            </a:r>
            <a:r>
              <a:rPr lang="en-US" sz="2800" u="sng" dirty="0">
                <a:latin typeface="Calibri" panose="020F0502020204030204" pitchFamily="34" charset="0"/>
                <a:ea typeface="Calibri" panose="020F0502020204030204" pitchFamily="34" charset="0"/>
                <a:cs typeface="Calibri" panose="020F0502020204030204" pitchFamily="34" charset="0"/>
              </a:rPr>
              <a:t>a £40,000 budget</a:t>
            </a:r>
            <a:r>
              <a:rPr lang="en-US" sz="2800" dirty="0">
                <a:latin typeface="Calibri" panose="020F0502020204030204" pitchFamily="34" charset="0"/>
                <a:ea typeface="Calibri" panose="020F0502020204030204" pitchFamily="34" charset="0"/>
                <a:cs typeface="Calibri" panose="020F0502020204030204" pitchFamily="34" charset="0"/>
              </a:rPr>
              <a:t>. </a:t>
            </a:r>
          </a:p>
          <a:p>
            <a:pPr algn="just">
              <a:lnSpc>
                <a:spcPct val="90000"/>
              </a:lnSpc>
              <a:spcBef>
                <a:spcPts val="150"/>
              </a:spcBef>
              <a:defRPr/>
            </a:pPr>
            <a:r>
              <a:rPr lang="en-GB" sz="2800" dirty="0">
                <a:latin typeface="Calibri" panose="020F0502020204030204" pitchFamily="34" charset="0"/>
                <a:ea typeface="Calibri" panose="020F0502020204030204" pitchFamily="34" charset="0"/>
                <a:cs typeface="Calibri" panose="020F0502020204030204" pitchFamily="34" charset="0"/>
              </a:rPr>
              <a:t>To have input details of </a:t>
            </a:r>
            <a:r>
              <a:rPr lang="en-GB" sz="2800" u="sng" dirty="0">
                <a:latin typeface="Calibri" panose="020F0502020204030204" pitchFamily="34" charset="0"/>
                <a:ea typeface="Calibri" panose="020F0502020204030204" pitchFamily="34" charset="0"/>
                <a:cs typeface="Calibri" panose="020F0502020204030204" pitchFamily="34" charset="0"/>
              </a:rPr>
              <a:t>5000 existing employees </a:t>
            </a:r>
            <a:r>
              <a:rPr lang="en-GB" sz="2800" dirty="0">
                <a:latin typeface="Calibri" panose="020F0502020204030204" pitchFamily="34" charset="0"/>
                <a:ea typeface="Calibri" panose="020F0502020204030204" pitchFamily="34" charset="0"/>
                <a:cs typeface="Calibri" panose="020F0502020204030204" pitchFamily="34" charset="0"/>
              </a:rPr>
              <a:t>on the systems </a:t>
            </a:r>
            <a:r>
              <a:rPr lang="en-GB" sz="2800" u="sng" dirty="0">
                <a:latin typeface="Calibri" panose="020F0502020204030204" pitchFamily="34" charset="0"/>
                <a:ea typeface="Calibri" panose="020F0502020204030204" pitchFamily="34" charset="0"/>
                <a:cs typeface="Calibri" panose="020F0502020204030204" pitchFamily="34" charset="0"/>
              </a:rPr>
              <a:t>by </a:t>
            </a:r>
            <a:r>
              <a:rPr lang="en-GB" sz="2800" b="1" u="sng" dirty="0">
                <a:latin typeface="Calibri" panose="020F0502020204030204" pitchFamily="34" charset="0"/>
                <a:ea typeface="Calibri" panose="020F0502020204030204" pitchFamily="34" charset="0"/>
                <a:cs typeface="Calibri" panose="020F0502020204030204" pitchFamily="34" charset="0"/>
              </a:rPr>
              <a:t>May 2020</a:t>
            </a:r>
            <a:r>
              <a:rPr lang="en-GB" sz="2800" i="1" u="sng" dirty="0">
                <a:latin typeface="Calibri" panose="020F0502020204030204" pitchFamily="34" charset="0"/>
                <a:ea typeface="Calibri" panose="020F0502020204030204" pitchFamily="34" charset="0"/>
                <a:cs typeface="Calibri" panose="020F0502020204030204" pitchFamily="34" charset="0"/>
              </a:rPr>
              <a:t> </a:t>
            </a:r>
            <a:r>
              <a:rPr lang="en-GB" sz="2800" i="1" dirty="0">
                <a:latin typeface="Calibri" panose="020F0502020204030204" pitchFamily="34" charset="0"/>
                <a:ea typeface="Calibri" panose="020F0502020204030204" pitchFamily="34" charset="0"/>
                <a:cs typeface="Calibri" panose="020F0502020204030204" pitchFamily="34" charset="0"/>
              </a:rPr>
              <a:t>and to </a:t>
            </a:r>
            <a:r>
              <a:rPr lang="en-GB" sz="2800" dirty="0">
                <a:latin typeface="Calibri" panose="020F0502020204030204" pitchFamily="34" charset="0"/>
                <a:ea typeface="Calibri" panose="020F0502020204030204" pitchFamily="34" charset="0"/>
                <a:cs typeface="Calibri" panose="020F0502020204030204" pitchFamily="34" charset="0"/>
              </a:rPr>
              <a:t>have the training manual of </a:t>
            </a:r>
            <a:r>
              <a:rPr lang="en-GB" sz="2800" u="sng" dirty="0">
                <a:latin typeface="Calibri" panose="020F0502020204030204" pitchFamily="34" charset="0"/>
                <a:ea typeface="Calibri" panose="020F0502020204030204" pitchFamily="34" charset="0"/>
                <a:cs typeface="Calibri" panose="020F0502020204030204" pitchFamily="34" charset="0"/>
              </a:rPr>
              <a:t>the payroll system ready </a:t>
            </a:r>
            <a:r>
              <a:rPr lang="en-GB" sz="2800" dirty="0">
                <a:latin typeface="Calibri" panose="020F0502020204030204" pitchFamily="34" charset="0"/>
                <a:ea typeface="Calibri" panose="020F0502020204030204" pitchFamily="34" charset="0"/>
                <a:cs typeface="Calibri" panose="020F0502020204030204" pitchFamily="34" charset="0"/>
              </a:rPr>
              <a:t>by </a:t>
            </a:r>
            <a:r>
              <a:rPr lang="en-GB" sz="2800" b="1" u="sng" dirty="0">
                <a:latin typeface="Calibri" panose="020F0502020204030204" pitchFamily="34" charset="0"/>
                <a:ea typeface="Calibri" panose="020F0502020204030204" pitchFamily="34" charset="0"/>
                <a:cs typeface="Calibri" panose="020F0502020204030204" pitchFamily="34" charset="0"/>
              </a:rPr>
              <a:t>30 June 2020</a:t>
            </a:r>
            <a:r>
              <a:rPr lang="en-GB" sz="2800" dirty="0">
                <a:latin typeface="Calibri" panose="020F0502020204030204" pitchFamily="34" charset="0"/>
                <a:ea typeface="Calibri" panose="020F0502020204030204" pitchFamily="34" charset="0"/>
                <a:cs typeface="Calibri" panose="020F0502020204030204" pitchFamily="34" charset="0"/>
              </a:rPr>
              <a:t>. </a:t>
            </a:r>
            <a:endParaRPr lang="en-GB" sz="2800" i="1" dirty="0">
              <a:latin typeface="Calibri" panose="020F0502020204030204" pitchFamily="34" charset="0"/>
              <a:ea typeface="Calibri" panose="020F0502020204030204" pitchFamily="34" charset="0"/>
              <a:cs typeface="Calibri" panose="020F0502020204030204" pitchFamily="34" charset="0"/>
            </a:endParaRPr>
          </a:p>
          <a:p>
            <a:pPr lvl="0" algn="just"/>
            <a:r>
              <a:rPr lang="en-US" sz="2800" dirty="0">
                <a:latin typeface="Calibri" panose="020F0502020204030204" pitchFamily="34" charset="0"/>
                <a:ea typeface="Calibri" panose="020F0502020204030204" pitchFamily="34" charset="0"/>
                <a:cs typeface="Calibri" panose="020F0502020204030204" pitchFamily="34" charset="0"/>
              </a:rPr>
              <a:t>To expand market share by </a:t>
            </a:r>
            <a:r>
              <a:rPr lang="en-US" sz="2800" u="sng" dirty="0">
                <a:latin typeface="Calibri" panose="020F0502020204030204" pitchFamily="34" charset="0"/>
                <a:ea typeface="Calibri" panose="020F0502020204030204" pitchFamily="34" charset="0"/>
                <a:cs typeface="Calibri" panose="020F0502020204030204" pitchFamily="34" charset="0"/>
              </a:rPr>
              <a:t>3 percent </a:t>
            </a:r>
            <a:r>
              <a:rPr lang="en-US" sz="2800" dirty="0">
                <a:latin typeface="Calibri" panose="020F0502020204030204" pitchFamily="34" charset="0"/>
                <a:ea typeface="Calibri" panose="020F0502020204030204" pitchFamily="34" charset="0"/>
                <a:cs typeface="Calibri" panose="020F0502020204030204" pitchFamily="34" charset="0"/>
              </a:rPr>
              <a:t>by introducing a new portable food preparation appliance within </a:t>
            </a:r>
            <a:r>
              <a:rPr lang="en-US" sz="2800" b="1" u="sng" dirty="0">
                <a:latin typeface="Calibri" panose="020F0502020204030204" pitchFamily="34" charset="0"/>
                <a:ea typeface="Calibri" panose="020F0502020204030204" pitchFamily="34" charset="0"/>
                <a:cs typeface="Calibri" panose="020F0502020204030204" pitchFamily="34" charset="0"/>
              </a:rPr>
              <a:t>10 months, </a:t>
            </a:r>
            <a:r>
              <a:rPr lang="en-US" sz="2800" dirty="0">
                <a:latin typeface="Calibri" panose="020F0502020204030204" pitchFamily="34" charset="0"/>
                <a:ea typeface="Calibri" panose="020F0502020204030204" pitchFamily="34" charset="0"/>
                <a:cs typeface="Calibri" panose="020F0502020204030204" pitchFamily="34" charset="0"/>
              </a:rPr>
              <a:t>with a budget of </a:t>
            </a:r>
            <a:r>
              <a:rPr lang="en-US" sz="2800" u="sng" dirty="0">
                <a:latin typeface="Calibri" panose="020F0502020204030204" pitchFamily="34" charset="0"/>
                <a:ea typeface="Calibri" panose="020F0502020204030204" pitchFamily="34" charset="0"/>
                <a:cs typeface="Calibri" panose="020F0502020204030204" pitchFamily="34" charset="0"/>
              </a:rPr>
              <a:t>£2 million</a:t>
            </a:r>
            <a:endParaRPr lang="en-GB" sz="2800" u="sng"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fill="hold" nodeType="withEffect">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p:cTn id="2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Business Objectives</a:t>
            </a:r>
          </a:p>
        </p:txBody>
      </p:sp>
      <p:sp>
        <p:nvSpPr>
          <p:cNvPr id="3" name="Content Placeholder 2"/>
          <p:cNvSpPr>
            <a:spLocks noGrp="1"/>
          </p:cNvSpPr>
          <p:nvPr>
            <p:ph idx="1"/>
          </p:nvPr>
        </p:nvSpPr>
        <p:spPr>
          <a:xfrm>
            <a:off x="457200" y="2489200"/>
            <a:ext cx="8229600" cy="4094162"/>
          </a:xfrm>
        </p:spPr>
        <p:txBody>
          <a:bodyPr>
            <a:normAutofit/>
          </a:bodyPr>
          <a:lstStyle/>
          <a:p>
            <a:pPr algn="just"/>
            <a:r>
              <a:rPr lang="en-US" b="1" dirty="0" err="1"/>
              <a:t>Trả</a:t>
            </a:r>
            <a:r>
              <a:rPr lang="en-US" b="1" dirty="0"/>
              <a:t> </a:t>
            </a:r>
            <a:r>
              <a:rPr lang="en-US" b="1" dirty="0" err="1"/>
              <a:t>lời</a:t>
            </a:r>
            <a:r>
              <a:rPr lang="en-US" b="1" dirty="0"/>
              <a:t>: </a:t>
            </a:r>
            <a:r>
              <a:rPr lang="en-US" b="1" i="1" dirty="0" err="1"/>
              <a:t>Dự</a:t>
            </a:r>
            <a:r>
              <a:rPr lang="en-US" b="1" i="1" dirty="0"/>
              <a:t> </a:t>
            </a:r>
            <a:r>
              <a:rPr lang="en-US" b="1" i="1" dirty="0" err="1"/>
              <a:t>án</a:t>
            </a:r>
            <a:r>
              <a:rPr lang="en-US" b="1" i="1" dirty="0"/>
              <a:t> </a:t>
            </a:r>
            <a:r>
              <a:rPr lang="en-US" b="1" i="1" dirty="0" err="1"/>
              <a:t>này</a:t>
            </a:r>
            <a:r>
              <a:rPr lang="en-US" b="1" i="1" dirty="0"/>
              <a:t> </a:t>
            </a:r>
            <a:r>
              <a:rPr lang="en-US" b="1" i="1" dirty="0" err="1"/>
              <a:t>mang</a:t>
            </a:r>
            <a:r>
              <a:rPr lang="en-US" b="1" i="1" dirty="0"/>
              <a:t> </a:t>
            </a:r>
            <a:r>
              <a:rPr lang="en-US" b="1" i="1" dirty="0" err="1"/>
              <a:t>lại</a:t>
            </a:r>
            <a:r>
              <a:rPr lang="en-US" b="1" i="1" dirty="0"/>
              <a:t> </a:t>
            </a:r>
            <a:r>
              <a:rPr lang="en-US" b="1" i="1" dirty="0" err="1"/>
              <a:t>lợi</a:t>
            </a:r>
            <a:r>
              <a:rPr lang="en-US" b="1" i="1" dirty="0"/>
              <a:t> </a:t>
            </a:r>
            <a:r>
              <a:rPr lang="en-US" b="1" i="1" dirty="0" err="1"/>
              <a:t>ích</a:t>
            </a:r>
            <a:r>
              <a:rPr lang="en-US" b="1" i="1" dirty="0"/>
              <a:t> </a:t>
            </a:r>
            <a:r>
              <a:rPr lang="en-US" b="1" i="1" dirty="0" err="1"/>
              <a:t>gì</a:t>
            </a:r>
            <a:r>
              <a:rPr lang="en-US" b="1" i="1" dirty="0"/>
              <a:t> </a:t>
            </a:r>
            <a:r>
              <a:rPr lang="en-US" b="1" i="1" dirty="0" err="1"/>
              <a:t>cho</a:t>
            </a:r>
            <a:r>
              <a:rPr lang="en-US" b="1" i="1" dirty="0"/>
              <a:t> </a:t>
            </a:r>
            <a:r>
              <a:rPr lang="en-US" b="1" i="1" dirty="0" err="1"/>
              <a:t>doanh</a:t>
            </a:r>
            <a:r>
              <a:rPr lang="en-US" b="1" i="1" dirty="0"/>
              <a:t> </a:t>
            </a:r>
            <a:r>
              <a:rPr lang="en-US" b="1" i="1" dirty="0" err="1"/>
              <a:t>nghiệp</a:t>
            </a:r>
            <a:r>
              <a:rPr lang="en-US" b="1" i="1" dirty="0"/>
              <a:t>?</a:t>
            </a:r>
            <a:endParaRPr b="1" dirty="0"/>
          </a:p>
          <a:p>
            <a:pPr lvl="1" algn="just">
              <a:buFont typeface="Courier New" panose="02070309020205020404" pitchFamily="49" charset="0"/>
              <a:buChar char="o"/>
            </a:pPr>
            <a:r>
              <a:rPr dirty="0" err="1"/>
              <a:t>Mở</a:t>
            </a:r>
            <a:r>
              <a:rPr dirty="0"/>
              <a:t> </a:t>
            </a:r>
            <a:r>
              <a:rPr dirty="0" err="1"/>
              <a:t>rộng</a:t>
            </a:r>
            <a:r>
              <a:rPr dirty="0"/>
              <a:t> </a:t>
            </a:r>
            <a:r>
              <a:rPr dirty="0" err="1"/>
              <a:t>kênh</a:t>
            </a:r>
            <a:r>
              <a:rPr dirty="0"/>
              <a:t> </a:t>
            </a:r>
            <a:r>
              <a:rPr dirty="0" err="1"/>
              <a:t>bán</a:t>
            </a:r>
            <a:r>
              <a:rPr dirty="0"/>
              <a:t> </a:t>
            </a:r>
            <a:r>
              <a:rPr dirty="0" err="1"/>
              <a:t>hàng</a:t>
            </a:r>
            <a:r>
              <a:rPr dirty="0"/>
              <a:t> </a:t>
            </a:r>
            <a:r>
              <a:rPr dirty="0" err="1"/>
              <a:t>số</a:t>
            </a:r>
            <a:endParaRPr lang="en-US" dirty="0"/>
          </a:p>
          <a:p>
            <a:pPr lvl="1" algn="just">
              <a:buFont typeface="Courier New" panose="02070309020205020404" pitchFamily="49" charset="0"/>
              <a:buChar char="o"/>
            </a:pPr>
            <a:r>
              <a:rPr lang="en-US" dirty="0" err="1"/>
              <a:t>Tăng</a:t>
            </a:r>
            <a:r>
              <a:rPr lang="en-US" dirty="0"/>
              <a:t> </a:t>
            </a:r>
            <a:r>
              <a:rPr lang="en-US" dirty="0" err="1"/>
              <a:t>doanh</a:t>
            </a:r>
            <a:r>
              <a:rPr lang="en-US" dirty="0"/>
              <a:t> </a:t>
            </a:r>
            <a:r>
              <a:rPr lang="en-US" dirty="0" err="1"/>
              <a:t>thu</a:t>
            </a:r>
            <a:r>
              <a:rPr lang="en-US" dirty="0"/>
              <a:t> </a:t>
            </a:r>
            <a:r>
              <a:rPr lang="en-US" dirty="0" err="1"/>
              <a:t>bán</a:t>
            </a:r>
            <a:r>
              <a:rPr lang="en-US" dirty="0"/>
              <a:t> </a:t>
            </a:r>
            <a:r>
              <a:rPr lang="en-US" dirty="0" err="1"/>
              <a:t>hàng</a:t>
            </a:r>
            <a:r>
              <a:rPr lang="en-US" dirty="0"/>
              <a:t> </a:t>
            </a:r>
            <a:r>
              <a:rPr lang="en-US" dirty="0" err="1"/>
              <a:t>trực</a:t>
            </a:r>
            <a:r>
              <a:rPr lang="en-US" dirty="0"/>
              <a:t> </a:t>
            </a:r>
            <a:r>
              <a:rPr lang="en-US" dirty="0" err="1"/>
              <a:t>tuyến</a:t>
            </a:r>
            <a:endParaRPr dirty="0"/>
          </a:p>
          <a:p>
            <a:pPr lvl="1" algn="just">
              <a:buFont typeface="Courier New" panose="02070309020205020404" pitchFamily="49" charset="0"/>
              <a:buChar char="o"/>
            </a:pPr>
            <a:r>
              <a:rPr dirty="0" err="1"/>
              <a:t>Tăng</a:t>
            </a:r>
            <a:r>
              <a:rPr dirty="0"/>
              <a:t> conversion rate</a:t>
            </a:r>
          </a:p>
          <a:p>
            <a:pPr lvl="1" algn="just">
              <a:buFont typeface="Courier New" panose="02070309020205020404" pitchFamily="49" charset="0"/>
              <a:buChar char="o"/>
            </a:pPr>
            <a:r>
              <a:rPr dirty="0" err="1"/>
              <a:t>Giảm</a:t>
            </a:r>
            <a:r>
              <a:rPr dirty="0"/>
              <a:t> chi </a:t>
            </a:r>
            <a:r>
              <a:rPr dirty="0" err="1"/>
              <a:t>phí</a:t>
            </a:r>
            <a:r>
              <a:rPr dirty="0"/>
              <a:t> </a:t>
            </a:r>
            <a:r>
              <a:rPr dirty="0" err="1"/>
              <a:t>vận</a:t>
            </a:r>
            <a:r>
              <a:rPr dirty="0"/>
              <a:t> </a:t>
            </a:r>
            <a:r>
              <a:rPr dirty="0" err="1"/>
              <a:t>hành</a:t>
            </a:r>
            <a:endParaRPr lang="en-US" dirty="0"/>
          </a:p>
          <a:p>
            <a:pPr lvl="1" algn="just">
              <a:buFont typeface="Courier New" panose="02070309020205020404" pitchFamily="49" charset="0"/>
              <a:buChar char="o"/>
            </a:pPr>
            <a:r>
              <a:rPr lang="vi-VN" dirty="0">
                <a:latin typeface="Calibri" panose="020F0502020204030204" pitchFamily="34" charset="0"/>
                <a:ea typeface="Calibri" panose="020F0502020204030204" pitchFamily="34" charset="0"/>
                <a:cs typeface="Calibri" panose="020F0502020204030204" pitchFamily="34" charset="0"/>
              </a:rPr>
              <a:t>Mở rộng thị trường (quốc gia / khu vực mới)</a:t>
            </a:r>
            <a:endParaRPr lang="en-US" dirty="0">
              <a:latin typeface="Calibri" panose="020F0502020204030204" pitchFamily="34" charset="0"/>
              <a:ea typeface="Calibri" panose="020F0502020204030204" pitchFamily="34" charset="0"/>
              <a:cs typeface="Calibri" panose="020F0502020204030204" pitchFamily="34" charset="0"/>
            </a:endParaRPr>
          </a:p>
          <a:p>
            <a:pPr algn="just">
              <a:buFont typeface="Arial" panose="020B0604020202020204" pitchFamily="34" charset="0"/>
              <a:buChar char="•"/>
            </a:pPr>
            <a:r>
              <a:rPr lang="en-US" b="1" dirty="0" err="1">
                <a:latin typeface="Calibri" panose="020F0502020204030204" pitchFamily="34" charset="0"/>
                <a:ea typeface="Calibri" panose="020F0502020204030204" pitchFamily="34" charset="0"/>
                <a:cs typeface="Calibri" panose="020F0502020204030204" pitchFamily="34" charset="0"/>
              </a:rPr>
              <a:t>Ví</a:t>
            </a: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dụ</a:t>
            </a:r>
            <a:r>
              <a:rPr lang="en-US" b="1" dirty="0">
                <a:latin typeface="Calibri" panose="020F0502020204030204" pitchFamily="34" charset="0"/>
                <a:ea typeface="Calibri" panose="020F0502020204030204" pitchFamily="34" charset="0"/>
                <a:cs typeface="Calibri" panose="020F0502020204030204" pitchFamily="34" charset="0"/>
              </a:rPr>
              <a:t>:</a:t>
            </a:r>
          </a:p>
          <a:p>
            <a:pPr lvl="1" algn="just">
              <a:buFont typeface="Courier New" panose="02070309020205020404" pitchFamily="49" charset="0"/>
              <a:buChar char="o"/>
            </a:pPr>
            <a:r>
              <a:rPr lang="vi-VN" dirty="0">
                <a:latin typeface="Calibri" panose="020F0502020204030204" pitchFamily="34" charset="0"/>
                <a:ea typeface="Calibri" panose="020F0502020204030204" pitchFamily="34" charset="0"/>
                <a:cs typeface="Calibri" panose="020F0502020204030204" pitchFamily="34" charset="0"/>
              </a:rPr>
              <a:t>Hệ thống thương mại điện tử được triển khai nhằm tăng doanh thu bán hàng trực tuyến tối thiểu 30%, được đo lường bằng tổng doanh thu phát sinh trên hệ thống, so với giai đoạn 12 tháng trước khi triển khai, và đạt được trong vòng 12 tháng kể từ thời điểm hệ thống chính thức đi vào hoạt động.</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User / Customer Objectives</a:t>
            </a:r>
          </a:p>
        </p:txBody>
      </p:sp>
      <p:sp>
        <p:nvSpPr>
          <p:cNvPr id="3" name="Content Placeholder 2"/>
          <p:cNvSpPr>
            <a:spLocks noGrp="1"/>
          </p:cNvSpPr>
          <p:nvPr>
            <p:ph idx="1"/>
          </p:nvPr>
        </p:nvSpPr>
        <p:spPr>
          <a:xfrm>
            <a:off x="457200" y="2421466"/>
            <a:ext cx="8229600" cy="4161895"/>
          </a:xfrm>
        </p:spPr>
        <p:txBody>
          <a:bodyPr>
            <a:normAutofit/>
          </a:bodyPr>
          <a:lstStyle/>
          <a:p>
            <a:pPr algn="just"/>
            <a:r>
              <a:rPr lang="vi-VN" b="1" dirty="0">
                <a:latin typeface="Calibri" panose="020F0502020204030204" pitchFamily="34" charset="0"/>
                <a:ea typeface="Calibri" panose="020F0502020204030204" pitchFamily="34" charset="0"/>
                <a:cs typeface="Calibri" panose="020F0502020204030204" pitchFamily="34" charset="0"/>
              </a:rPr>
              <a:t>Trả lời: </a:t>
            </a:r>
            <a:r>
              <a:rPr lang="vi-VN" b="1" i="1" dirty="0">
                <a:latin typeface="Calibri" panose="020F0502020204030204" pitchFamily="34" charset="0"/>
                <a:ea typeface="Calibri" panose="020F0502020204030204" pitchFamily="34" charset="0"/>
                <a:cs typeface="Calibri" panose="020F0502020204030204" pitchFamily="34" charset="0"/>
              </a:rPr>
              <a:t>Người dùng được lợi gì? </a:t>
            </a:r>
            <a:endParaRPr b="1" dirty="0">
              <a:latin typeface="Calibri" panose="020F0502020204030204" pitchFamily="34" charset="0"/>
              <a:ea typeface="Calibri" panose="020F0502020204030204" pitchFamily="34" charset="0"/>
              <a:cs typeface="Calibri" panose="020F0502020204030204" pitchFamily="34" charset="0"/>
            </a:endParaRPr>
          </a:p>
          <a:p>
            <a:pPr lvl="1" algn="just">
              <a:buFont typeface="Courier New" panose="02070309020205020404" pitchFamily="49" charset="0"/>
              <a:buChar char="o"/>
            </a:pPr>
            <a:r>
              <a:rPr lang="vi-VN" dirty="0">
                <a:latin typeface="Calibri" panose="020F0502020204030204" pitchFamily="34" charset="0"/>
                <a:ea typeface="Calibri" panose="020F0502020204030204" pitchFamily="34" charset="0"/>
                <a:cs typeface="Calibri" panose="020F0502020204030204" pitchFamily="34" charset="0"/>
              </a:rPr>
              <a:t>Trải nghiệm mua sắm đơn giản, nhanh chóng </a:t>
            </a:r>
            <a:endParaRPr lang="en-US" dirty="0">
              <a:latin typeface="Calibri" panose="020F0502020204030204" pitchFamily="34" charset="0"/>
              <a:ea typeface="Calibri" panose="020F0502020204030204" pitchFamily="34" charset="0"/>
              <a:cs typeface="Calibri" panose="020F0502020204030204" pitchFamily="34" charset="0"/>
            </a:endParaRPr>
          </a:p>
          <a:p>
            <a:pPr lvl="1" algn="just">
              <a:buFont typeface="Courier New" panose="02070309020205020404" pitchFamily="49" charset="0"/>
              <a:buChar char="o"/>
            </a:pPr>
            <a:r>
              <a:rPr dirty="0">
                <a:latin typeface="Calibri" panose="020F0502020204030204" pitchFamily="34" charset="0"/>
                <a:ea typeface="Calibri" panose="020F0502020204030204" pitchFamily="34" charset="0"/>
                <a:cs typeface="Calibri" panose="020F0502020204030204" pitchFamily="34" charset="0"/>
              </a:rPr>
              <a:t>Thanh </a:t>
            </a:r>
            <a:r>
              <a:rPr dirty="0" err="1">
                <a:latin typeface="Calibri" panose="020F0502020204030204" pitchFamily="34" charset="0"/>
                <a:ea typeface="Calibri" panose="020F0502020204030204" pitchFamily="34" charset="0"/>
                <a:cs typeface="Calibri" panose="020F0502020204030204" pitchFamily="34" charset="0"/>
              </a:rPr>
              <a:t>toán</a:t>
            </a:r>
            <a:r>
              <a:rPr dirty="0">
                <a:latin typeface="Calibri" panose="020F0502020204030204" pitchFamily="34" charset="0"/>
                <a:ea typeface="Calibri" panose="020F0502020204030204" pitchFamily="34" charset="0"/>
                <a:cs typeface="Calibri" panose="020F0502020204030204" pitchFamily="34" charset="0"/>
              </a:rPr>
              <a:t> an </a:t>
            </a:r>
            <a:r>
              <a:rPr dirty="0" err="1">
                <a:latin typeface="Calibri" panose="020F0502020204030204" pitchFamily="34" charset="0"/>
                <a:ea typeface="Calibri" panose="020F0502020204030204" pitchFamily="34" charset="0"/>
                <a:cs typeface="Calibri" panose="020F0502020204030204" pitchFamily="34" charset="0"/>
              </a:rPr>
              <a:t>toàn</a:t>
            </a:r>
            <a:r>
              <a:rPr dirty="0">
                <a:latin typeface="Calibri" panose="020F0502020204030204" pitchFamily="34" charset="0"/>
                <a:ea typeface="Calibri" panose="020F0502020204030204" pitchFamily="34" charset="0"/>
                <a:cs typeface="Calibri" panose="020F0502020204030204" pitchFamily="34" charset="0"/>
              </a:rPr>
              <a:t>, </a:t>
            </a:r>
            <a:r>
              <a:rPr dirty="0" err="1">
                <a:latin typeface="Calibri" panose="020F0502020204030204" pitchFamily="34" charset="0"/>
                <a:ea typeface="Calibri" panose="020F0502020204030204" pitchFamily="34" charset="0"/>
                <a:cs typeface="Calibri" panose="020F0502020204030204" pitchFamily="34" charset="0"/>
              </a:rPr>
              <a:t>đa</a:t>
            </a:r>
            <a:r>
              <a:rPr dirty="0">
                <a:latin typeface="Calibri" panose="020F0502020204030204" pitchFamily="34" charset="0"/>
                <a:ea typeface="Calibri" panose="020F0502020204030204" pitchFamily="34" charset="0"/>
                <a:cs typeface="Calibri" panose="020F0502020204030204" pitchFamily="34" charset="0"/>
              </a:rPr>
              <a:t> </a:t>
            </a:r>
            <a:r>
              <a:rPr dirty="0" err="1">
                <a:latin typeface="Calibri" panose="020F0502020204030204" pitchFamily="34" charset="0"/>
                <a:ea typeface="Calibri" panose="020F0502020204030204" pitchFamily="34" charset="0"/>
                <a:cs typeface="Calibri" panose="020F0502020204030204" pitchFamily="34" charset="0"/>
              </a:rPr>
              <a:t>dạng</a:t>
            </a:r>
            <a:r>
              <a:rPr dirty="0">
                <a:latin typeface="Calibri" panose="020F0502020204030204" pitchFamily="34" charset="0"/>
                <a:ea typeface="Calibri" panose="020F0502020204030204" pitchFamily="34" charset="0"/>
                <a:cs typeface="Calibri" panose="020F0502020204030204" pitchFamily="34" charset="0"/>
              </a:rPr>
              <a:t> </a:t>
            </a:r>
            <a:r>
              <a:rPr dirty="0" err="1">
                <a:latin typeface="Calibri" panose="020F0502020204030204" pitchFamily="34" charset="0"/>
                <a:ea typeface="Calibri" panose="020F0502020204030204" pitchFamily="34" charset="0"/>
                <a:cs typeface="Calibri" panose="020F0502020204030204" pitchFamily="34" charset="0"/>
              </a:rPr>
              <a:t>phương</a:t>
            </a:r>
            <a:r>
              <a:rPr dirty="0">
                <a:latin typeface="Calibri" panose="020F0502020204030204" pitchFamily="34" charset="0"/>
                <a:ea typeface="Calibri" panose="020F0502020204030204" pitchFamily="34" charset="0"/>
                <a:cs typeface="Calibri" panose="020F0502020204030204" pitchFamily="34" charset="0"/>
              </a:rPr>
              <a:t> </a:t>
            </a:r>
            <a:r>
              <a:rPr dirty="0" err="1">
                <a:latin typeface="Calibri" panose="020F0502020204030204" pitchFamily="34" charset="0"/>
                <a:ea typeface="Calibri" panose="020F0502020204030204" pitchFamily="34" charset="0"/>
                <a:cs typeface="Calibri" panose="020F0502020204030204" pitchFamily="34" charset="0"/>
              </a:rPr>
              <a:t>thức</a:t>
            </a:r>
            <a:endParaRPr dirty="0">
              <a:latin typeface="Calibri" panose="020F0502020204030204" pitchFamily="34" charset="0"/>
              <a:ea typeface="Calibri" panose="020F0502020204030204" pitchFamily="34" charset="0"/>
              <a:cs typeface="Calibri" panose="020F0502020204030204" pitchFamily="34" charset="0"/>
            </a:endParaRPr>
          </a:p>
          <a:p>
            <a:pPr lvl="1" algn="just">
              <a:buFont typeface="Courier New" panose="02070309020205020404" pitchFamily="49" charset="0"/>
              <a:buChar char="o"/>
            </a:pPr>
            <a:r>
              <a:rPr dirty="0">
                <a:latin typeface="Calibri" panose="020F0502020204030204" pitchFamily="34" charset="0"/>
                <a:ea typeface="Calibri" panose="020F0502020204030204" pitchFamily="34" charset="0"/>
                <a:cs typeface="Calibri" panose="020F0502020204030204" pitchFamily="34" charset="0"/>
              </a:rPr>
              <a:t>Theo </a:t>
            </a:r>
            <a:r>
              <a:rPr dirty="0" err="1">
                <a:latin typeface="Calibri" panose="020F0502020204030204" pitchFamily="34" charset="0"/>
                <a:ea typeface="Calibri" panose="020F0502020204030204" pitchFamily="34" charset="0"/>
                <a:cs typeface="Calibri" panose="020F0502020204030204" pitchFamily="34" charset="0"/>
              </a:rPr>
              <a:t>dõi</a:t>
            </a:r>
            <a:r>
              <a:rPr dirty="0">
                <a:latin typeface="Calibri" panose="020F0502020204030204" pitchFamily="34" charset="0"/>
                <a:ea typeface="Calibri" panose="020F0502020204030204" pitchFamily="34" charset="0"/>
                <a:cs typeface="Calibri" panose="020F0502020204030204" pitchFamily="34" charset="0"/>
              </a:rPr>
              <a:t> </a:t>
            </a:r>
            <a:r>
              <a:rPr dirty="0" err="1">
                <a:latin typeface="Calibri" panose="020F0502020204030204" pitchFamily="34" charset="0"/>
                <a:ea typeface="Calibri" panose="020F0502020204030204" pitchFamily="34" charset="0"/>
                <a:cs typeface="Calibri" panose="020F0502020204030204" pitchFamily="34" charset="0"/>
              </a:rPr>
              <a:t>đơn</a:t>
            </a:r>
            <a:r>
              <a:rPr dirty="0">
                <a:latin typeface="Calibri" panose="020F0502020204030204" pitchFamily="34" charset="0"/>
                <a:ea typeface="Calibri" panose="020F0502020204030204" pitchFamily="34" charset="0"/>
                <a:cs typeface="Calibri" panose="020F0502020204030204" pitchFamily="34" charset="0"/>
              </a:rPr>
              <a:t> </a:t>
            </a:r>
            <a:r>
              <a:rPr dirty="0" err="1">
                <a:latin typeface="Calibri" panose="020F0502020204030204" pitchFamily="34" charset="0"/>
                <a:ea typeface="Calibri" panose="020F0502020204030204" pitchFamily="34" charset="0"/>
                <a:cs typeface="Calibri" panose="020F0502020204030204" pitchFamily="34" charset="0"/>
              </a:rPr>
              <a:t>hàng</a:t>
            </a:r>
            <a:r>
              <a:rPr dirty="0">
                <a:latin typeface="Calibri" panose="020F0502020204030204" pitchFamily="34" charset="0"/>
                <a:ea typeface="Calibri" panose="020F0502020204030204" pitchFamily="34" charset="0"/>
                <a:cs typeface="Calibri" panose="020F0502020204030204" pitchFamily="34" charset="0"/>
              </a:rPr>
              <a:t> </a:t>
            </a:r>
            <a:r>
              <a:rPr dirty="0" err="1">
                <a:latin typeface="Calibri" panose="020F0502020204030204" pitchFamily="34" charset="0"/>
                <a:ea typeface="Calibri" panose="020F0502020204030204" pitchFamily="34" charset="0"/>
                <a:cs typeface="Calibri" panose="020F0502020204030204" pitchFamily="34" charset="0"/>
              </a:rPr>
              <a:t>realtime</a:t>
            </a:r>
            <a:endParaRPr lang="en-US" dirty="0">
              <a:latin typeface="Calibri" panose="020F0502020204030204" pitchFamily="34" charset="0"/>
              <a:ea typeface="Calibri" panose="020F0502020204030204" pitchFamily="34" charset="0"/>
              <a:cs typeface="Calibri" panose="020F0502020204030204" pitchFamily="34" charset="0"/>
            </a:endParaRPr>
          </a:p>
          <a:p>
            <a:pPr lvl="1" algn="just">
              <a:buFont typeface="Courier New" panose="02070309020205020404" pitchFamily="49" charset="0"/>
              <a:buChar char="o"/>
            </a:pPr>
            <a:r>
              <a:rPr lang="vi-VN" dirty="0">
                <a:latin typeface="Calibri" panose="020F0502020204030204" pitchFamily="34" charset="0"/>
                <a:ea typeface="Calibri" panose="020F0502020204030204" pitchFamily="34" charset="0"/>
                <a:cs typeface="Calibri" panose="020F0502020204030204" pitchFamily="34" charset="0"/>
              </a:rPr>
              <a:t>Quản lý đơn hàng</a:t>
            </a:r>
            <a:endParaRPr lang="en-US" dirty="0">
              <a:latin typeface="Calibri" panose="020F0502020204030204" pitchFamily="34" charset="0"/>
              <a:ea typeface="Calibri" panose="020F0502020204030204" pitchFamily="34" charset="0"/>
              <a:cs typeface="Calibri" panose="020F0502020204030204" pitchFamily="34" charset="0"/>
            </a:endParaRPr>
          </a:p>
          <a:p>
            <a:pPr algn="just">
              <a:buFont typeface="Arial" panose="020B0604020202020204" pitchFamily="34" charset="0"/>
              <a:buChar char="•"/>
            </a:pPr>
            <a:r>
              <a:rPr lang="vi-VN" b="1" dirty="0">
                <a:latin typeface="Calibri" panose="020F0502020204030204" pitchFamily="34" charset="0"/>
                <a:ea typeface="Calibri" panose="020F0502020204030204" pitchFamily="34" charset="0"/>
                <a:cs typeface="Calibri" panose="020F0502020204030204" pitchFamily="34" charset="0"/>
              </a:rPr>
              <a:t>Ví dụ:</a:t>
            </a:r>
            <a:endParaRPr lang="en-US" b="1" dirty="0">
              <a:latin typeface="Calibri" panose="020F0502020204030204" pitchFamily="34" charset="0"/>
              <a:ea typeface="Calibri" panose="020F0502020204030204" pitchFamily="34" charset="0"/>
              <a:cs typeface="Calibri" panose="020F0502020204030204" pitchFamily="34" charset="0"/>
            </a:endParaRPr>
          </a:p>
          <a:p>
            <a:pPr lvl="1" algn="just">
              <a:buFont typeface="Courier New" panose="02070309020205020404" pitchFamily="49" charset="0"/>
              <a:buChar char="o"/>
            </a:pPr>
            <a:r>
              <a:rPr lang="vi-VN" dirty="0">
                <a:latin typeface="Calibri" panose="020F0502020204030204" pitchFamily="34" charset="0"/>
                <a:ea typeface="Calibri" panose="020F0502020204030204" pitchFamily="34" charset="0"/>
                <a:cs typeface="Calibri" panose="020F0502020204030204" pitchFamily="34" charset="0"/>
              </a:rPr>
              <a:t>Hệ thống cung cấp trải nghiệm mua sắm liền mạch, cho phép người dùng hoàn tất toàn bộ quy trình đặt hàng trong tối đa 3 bước, áp dụng cho ít nhất 95% các giao dịch thành công, và được kiểm chứng thông qua kiểm thử hành trình người dùng (user journey testing).</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Functional Objectives</a:t>
            </a:r>
          </a:p>
        </p:txBody>
      </p:sp>
      <p:sp>
        <p:nvSpPr>
          <p:cNvPr id="3" name="Content Placeholder 2"/>
          <p:cNvSpPr>
            <a:spLocks noGrp="1"/>
          </p:cNvSpPr>
          <p:nvPr>
            <p:ph idx="1"/>
          </p:nvPr>
        </p:nvSpPr>
        <p:spPr>
          <a:xfrm>
            <a:off x="457200" y="2506132"/>
            <a:ext cx="8229600" cy="4077229"/>
          </a:xfrm>
        </p:spPr>
        <p:txBody>
          <a:bodyPr>
            <a:normAutofit/>
          </a:bodyPr>
          <a:lstStyle/>
          <a:p>
            <a:pPr algn="just"/>
            <a:r>
              <a:rPr lang="vi-VN" b="1" dirty="0">
                <a:latin typeface="Calibri" panose="020F0502020204030204" pitchFamily="34" charset="0"/>
                <a:ea typeface="Calibri" panose="020F0502020204030204" pitchFamily="34" charset="0"/>
                <a:cs typeface="Calibri" panose="020F0502020204030204" pitchFamily="34" charset="0"/>
              </a:rPr>
              <a:t>Trả lời: </a:t>
            </a:r>
            <a:r>
              <a:rPr lang="vi-VN" b="1" i="1" dirty="0">
                <a:latin typeface="Calibri" panose="020F0502020204030204" pitchFamily="34" charset="0"/>
                <a:ea typeface="Calibri" panose="020F0502020204030204" pitchFamily="34" charset="0"/>
                <a:cs typeface="Calibri" panose="020F0502020204030204" pitchFamily="34" charset="0"/>
              </a:rPr>
              <a:t>Hệ thống phải làm được gì? </a:t>
            </a:r>
            <a:endParaRPr b="1" dirty="0">
              <a:latin typeface="Calibri" panose="020F0502020204030204" pitchFamily="34" charset="0"/>
              <a:ea typeface="Calibri" panose="020F0502020204030204" pitchFamily="34" charset="0"/>
              <a:cs typeface="Calibri" panose="020F0502020204030204" pitchFamily="34" charset="0"/>
            </a:endParaRPr>
          </a:p>
          <a:p>
            <a:pPr lvl="1" algn="just">
              <a:buFont typeface="Courier New" panose="02070309020205020404" pitchFamily="49" charset="0"/>
              <a:buChar char="o"/>
            </a:pPr>
            <a:r>
              <a:rPr lang="en-US" dirty="0" err="1"/>
              <a:t>Giỏ</a:t>
            </a:r>
            <a:r>
              <a:rPr lang="en-US" dirty="0"/>
              <a:t> </a:t>
            </a:r>
            <a:r>
              <a:rPr lang="en-US" dirty="0" err="1"/>
              <a:t>hàng</a:t>
            </a:r>
            <a:r>
              <a:rPr lang="en-US" dirty="0"/>
              <a:t> </a:t>
            </a:r>
            <a:r>
              <a:rPr lang="en-US" dirty="0" err="1"/>
              <a:t>và</a:t>
            </a:r>
            <a:r>
              <a:rPr lang="en-US" dirty="0"/>
              <a:t> checkout </a:t>
            </a:r>
          </a:p>
          <a:p>
            <a:pPr lvl="1" algn="just">
              <a:buFont typeface="Courier New" panose="02070309020205020404" pitchFamily="49" charset="0"/>
              <a:buChar char="o"/>
            </a:pPr>
            <a:r>
              <a:rPr lang="en-US" dirty="0" err="1"/>
              <a:t>Quản</a:t>
            </a:r>
            <a:r>
              <a:rPr lang="en-US" dirty="0"/>
              <a:t> </a:t>
            </a:r>
            <a:r>
              <a:rPr lang="en-US" dirty="0" err="1"/>
              <a:t>lý</a:t>
            </a:r>
            <a:r>
              <a:rPr lang="en-US" dirty="0"/>
              <a:t> </a:t>
            </a:r>
            <a:r>
              <a:rPr lang="en-US" dirty="0" err="1"/>
              <a:t>sản</a:t>
            </a:r>
            <a:r>
              <a:rPr lang="en-US" dirty="0"/>
              <a:t> </a:t>
            </a:r>
            <a:r>
              <a:rPr lang="en-US" dirty="0" err="1"/>
              <a:t>phẩm</a:t>
            </a:r>
            <a:r>
              <a:rPr lang="en-US" dirty="0"/>
              <a:t> &amp; </a:t>
            </a:r>
            <a:r>
              <a:rPr lang="en-US" dirty="0" err="1"/>
              <a:t>tồn</a:t>
            </a:r>
            <a:r>
              <a:rPr lang="en-US" dirty="0"/>
              <a:t> </a:t>
            </a:r>
            <a:r>
              <a:rPr lang="en-US" dirty="0" err="1"/>
              <a:t>kho</a:t>
            </a:r>
            <a:endParaRPr lang="en-US" dirty="0"/>
          </a:p>
          <a:p>
            <a:pPr lvl="1" algn="just">
              <a:buFont typeface="Courier New" panose="02070309020205020404" pitchFamily="49" charset="0"/>
              <a:buChar char="o"/>
            </a:pPr>
            <a:r>
              <a:rPr dirty="0"/>
              <a:t>Thanh </a:t>
            </a:r>
            <a:r>
              <a:rPr dirty="0" err="1"/>
              <a:t>toán</a:t>
            </a:r>
            <a:r>
              <a:rPr dirty="0"/>
              <a:t> online &amp; COD</a:t>
            </a:r>
          </a:p>
          <a:p>
            <a:pPr lvl="1" algn="just">
              <a:buFont typeface="Courier New" panose="02070309020205020404" pitchFamily="49" charset="0"/>
              <a:buChar char="o"/>
            </a:pPr>
            <a:r>
              <a:rPr dirty="0" err="1"/>
              <a:t>Quản</a:t>
            </a:r>
            <a:r>
              <a:rPr dirty="0"/>
              <a:t> </a:t>
            </a:r>
            <a:r>
              <a:rPr dirty="0" err="1"/>
              <a:t>lý</a:t>
            </a:r>
            <a:r>
              <a:rPr dirty="0"/>
              <a:t> </a:t>
            </a:r>
            <a:r>
              <a:rPr dirty="0" err="1"/>
              <a:t>đơn</a:t>
            </a:r>
            <a:r>
              <a:rPr dirty="0"/>
              <a:t> </a:t>
            </a:r>
            <a:r>
              <a:rPr dirty="0" err="1"/>
              <a:t>hàng</a:t>
            </a:r>
            <a:r>
              <a:rPr dirty="0"/>
              <a:t> &amp; </a:t>
            </a:r>
            <a:r>
              <a:rPr dirty="0" err="1"/>
              <a:t>khách</a:t>
            </a:r>
            <a:r>
              <a:rPr dirty="0"/>
              <a:t> </a:t>
            </a:r>
            <a:r>
              <a:rPr dirty="0" err="1"/>
              <a:t>h</a:t>
            </a:r>
            <a:r>
              <a:rPr lang="en-US" dirty="0" err="1"/>
              <a:t>à</a:t>
            </a:r>
            <a:r>
              <a:rPr dirty="0" err="1"/>
              <a:t>ng</a:t>
            </a:r>
            <a:endParaRPr lang="en-US" dirty="0"/>
          </a:p>
          <a:p>
            <a:pPr lvl="1" algn="just">
              <a:buFont typeface="Courier New" panose="02070309020205020404" pitchFamily="49" charset="0"/>
              <a:buChar char="o"/>
            </a:pPr>
            <a:r>
              <a:rPr lang="en-US" dirty="0" err="1"/>
              <a:t>Trải</a:t>
            </a:r>
            <a:r>
              <a:rPr lang="en-US" dirty="0"/>
              <a:t> </a:t>
            </a:r>
            <a:r>
              <a:rPr lang="en-US" dirty="0" err="1"/>
              <a:t>nghiệm</a:t>
            </a:r>
            <a:r>
              <a:rPr lang="en-US" dirty="0"/>
              <a:t> </a:t>
            </a:r>
            <a:r>
              <a:rPr lang="en-US" dirty="0" err="1"/>
              <a:t>nhất</a:t>
            </a:r>
            <a:r>
              <a:rPr lang="en-US" dirty="0"/>
              <a:t> </a:t>
            </a:r>
            <a:r>
              <a:rPr lang="en-US" dirty="0" err="1"/>
              <a:t>quán</a:t>
            </a:r>
            <a:r>
              <a:rPr lang="en-US" dirty="0"/>
              <a:t> </a:t>
            </a:r>
            <a:r>
              <a:rPr lang="en-US" dirty="0" err="1"/>
              <a:t>trên</a:t>
            </a:r>
            <a:r>
              <a:rPr lang="en-US" dirty="0"/>
              <a:t> web </a:t>
            </a:r>
            <a:r>
              <a:rPr lang="en-US" dirty="0" err="1"/>
              <a:t>và</a:t>
            </a:r>
            <a:r>
              <a:rPr lang="en-US" dirty="0"/>
              <a:t> mobile</a:t>
            </a:r>
          </a:p>
          <a:p>
            <a:pPr algn="just">
              <a:buFont typeface="Arial" panose="020B0604020202020204" pitchFamily="34" charset="0"/>
              <a:buChar char="•"/>
            </a:pPr>
            <a:r>
              <a:rPr lang="vi-VN" b="1" dirty="0">
                <a:latin typeface="Calibri" panose="020F0502020204030204" pitchFamily="34" charset="0"/>
                <a:ea typeface="Calibri" panose="020F0502020204030204" pitchFamily="34" charset="0"/>
                <a:cs typeface="Calibri" panose="020F0502020204030204" pitchFamily="34" charset="0"/>
              </a:rPr>
              <a:t>Ví dụ:</a:t>
            </a:r>
            <a:endParaRPr lang="en-US" b="1" dirty="0">
              <a:latin typeface="Calibri" panose="020F0502020204030204" pitchFamily="34" charset="0"/>
              <a:ea typeface="Calibri" panose="020F0502020204030204" pitchFamily="34" charset="0"/>
              <a:cs typeface="Calibri" panose="020F0502020204030204" pitchFamily="34" charset="0"/>
            </a:endParaRPr>
          </a:p>
          <a:p>
            <a:pPr lvl="1" algn="just">
              <a:buFont typeface="Courier New" panose="02070309020205020404" pitchFamily="49" charset="0"/>
              <a:buChar char="o"/>
            </a:pPr>
            <a:r>
              <a:rPr lang="vi-VN" dirty="0">
                <a:latin typeface="Calibri" panose="020F0502020204030204" pitchFamily="34" charset="0"/>
                <a:ea typeface="Calibri" panose="020F0502020204030204" pitchFamily="34" charset="0"/>
                <a:cs typeface="Calibri" panose="020F0502020204030204" pitchFamily="34" charset="0"/>
              </a:rPr>
              <a:t>Hệ thống hỗ trợ quản lý tối thiểu 100.000 sản phẩm và xử lý đồng thời ít nhất 5.000 người dùng truy cập, đảm bảo thời gian phản hồi trong giới hạn chấp nhận được, và được xác nhận thông qua kiểm thử tải (load testing) trước khi đưa vào vận hành chính thức.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 Technical Objectives</a:t>
            </a:r>
          </a:p>
        </p:txBody>
      </p:sp>
      <p:sp>
        <p:nvSpPr>
          <p:cNvPr id="3" name="Content Placeholder 2"/>
          <p:cNvSpPr>
            <a:spLocks noGrp="1"/>
          </p:cNvSpPr>
          <p:nvPr>
            <p:ph idx="1"/>
          </p:nvPr>
        </p:nvSpPr>
        <p:spPr>
          <a:xfrm>
            <a:off x="457200" y="2565400"/>
            <a:ext cx="8229600" cy="4017962"/>
          </a:xfrm>
        </p:spPr>
        <p:txBody>
          <a:bodyPr>
            <a:normAutofit/>
          </a:bodyPr>
          <a:lstStyle/>
          <a:p>
            <a:pPr algn="just"/>
            <a:r>
              <a:rPr lang="en-US" b="1" dirty="0" err="1"/>
              <a:t>Trả</a:t>
            </a:r>
            <a:r>
              <a:rPr lang="en-US" b="1" dirty="0"/>
              <a:t> </a:t>
            </a:r>
            <a:r>
              <a:rPr lang="en-US" b="1" dirty="0" err="1"/>
              <a:t>lời</a:t>
            </a:r>
            <a:r>
              <a:rPr lang="en-US" b="1" dirty="0"/>
              <a:t>: </a:t>
            </a:r>
            <a:r>
              <a:rPr lang="en-US" b="1" i="1" dirty="0" err="1"/>
              <a:t>Hệ</a:t>
            </a:r>
            <a:r>
              <a:rPr lang="en-US" b="1" i="1" dirty="0"/>
              <a:t> </a:t>
            </a:r>
            <a:r>
              <a:rPr lang="en-US" b="1" i="1" dirty="0" err="1"/>
              <a:t>thống</a:t>
            </a:r>
            <a:r>
              <a:rPr lang="en-US" b="1" i="1" dirty="0"/>
              <a:t> </a:t>
            </a:r>
            <a:r>
              <a:rPr lang="en-US" b="1" i="1" dirty="0" err="1"/>
              <a:t>phải</a:t>
            </a:r>
            <a:r>
              <a:rPr lang="en-US" b="1" i="1" dirty="0"/>
              <a:t> </a:t>
            </a:r>
            <a:r>
              <a:rPr lang="en-US" b="1" i="1" dirty="0" err="1"/>
              <a:t>đạt</a:t>
            </a:r>
            <a:r>
              <a:rPr lang="en-US" b="1" i="1" dirty="0"/>
              <a:t> </a:t>
            </a:r>
            <a:r>
              <a:rPr lang="en-US" b="1" i="1" dirty="0" err="1"/>
              <a:t>chuẩn</a:t>
            </a:r>
            <a:r>
              <a:rPr lang="en-US" b="1" i="1" dirty="0"/>
              <a:t> </a:t>
            </a:r>
            <a:r>
              <a:rPr lang="en-US" b="1" i="1" dirty="0" err="1"/>
              <a:t>kỹ</a:t>
            </a:r>
            <a:r>
              <a:rPr lang="en-US" b="1" i="1" dirty="0"/>
              <a:t> </a:t>
            </a:r>
            <a:r>
              <a:rPr lang="en-US" b="1" i="1" dirty="0" err="1"/>
              <a:t>thuật</a:t>
            </a:r>
            <a:r>
              <a:rPr lang="en-US" b="1" i="1" dirty="0"/>
              <a:t> </a:t>
            </a:r>
            <a:r>
              <a:rPr lang="en-US" b="1" i="1" dirty="0" err="1"/>
              <a:t>nào</a:t>
            </a:r>
            <a:r>
              <a:rPr lang="en-US" b="1" i="1" dirty="0"/>
              <a:t>? </a:t>
            </a:r>
            <a:endParaRPr b="1" dirty="0"/>
          </a:p>
          <a:p>
            <a:pPr lvl="1" algn="just">
              <a:buFont typeface="Courier New" panose="02070309020205020404" pitchFamily="49" charset="0"/>
              <a:buChar char="o"/>
            </a:pPr>
            <a:r>
              <a:rPr lang="en-US" dirty="0" err="1"/>
              <a:t>Thời</a:t>
            </a:r>
            <a:r>
              <a:rPr lang="en-US" dirty="0"/>
              <a:t> </a:t>
            </a:r>
            <a:r>
              <a:rPr lang="en-US" dirty="0" err="1"/>
              <a:t>gian</a:t>
            </a:r>
            <a:r>
              <a:rPr lang="en-US" dirty="0"/>
              <a:t> </a:t>
            </a:r>
            <a:r>
              <a:rPr lang="en-US" dirty="0" err="1"/>
              <a:t>phản</a:t>
            </a:r>
            <a:r>
              <a:rPr lang="en-US" dirty="0"/>
              <a:t> </a:t>
            </a:r>
            <a:r>
              <a:rPr lang="en-US" dirty="0" err="1"/>
              <a:t>hồi</a:t>
            </a:r>
            <a:r>
              <a:rPr lang="en-US" dirty="0"/>
              <a:t> &lt; 2 </a:t>
            </a:r>
            <a:r>
              <a:rPr lang="en-US" dirty="0" err="1"/>
              <a:t>giây</a:t>
            </a:r>
            <a:r>
              <a:rPr lang="en-US" dirty="0"/>
              <a:t> </a:t>
            </a:r>
          </a:p>
          <a:p>
            <a:pPr lvl="1" algn="just">
              <a:buFont typeface="Courier New" panose="02070309020205020404" pitchFamily="49" charset="0"/>
              <a:buChar char="o"/>
            </a:pPr>
            <a:r>
              <a:rPr dirty="0"/>
              <a:t>Uptime ≥ 99.9%</a:t>
            </a:r>
          </a:p>
          <a:p>
            <a:pPr lvl="1" algn="just">
              <a:buFont typeface="Courier New" panose="02070309020205020404" pitchFamily="49" charset="0"/>
              <a:buChar char="o"/>
            </a:pPr>
            <a:r>
              <a:rPr dirty="0" err="1"/>
              <a:t>Khả</a:t>
            </a:r>
            <a:r>
              <a:rPr dirty="0"/>
              <a:t> </a:t>
            </a:r>
            <a:r>
              <a:rPr dirty="0" err="1"/>
              <a:t>năng</a:t>
            </a:r>
            <a:r>
              <a:rPr dirty="0"/>
              <a:t> </a:t>
            </a:r>
            <a:r>
              <a:rPr dirty="0" err="1"/>
              <a:t>mở</a:t>
            </a:r>
            <a:r>
              <a:rPr dirty="0"/>
              <a:t> </a:t>
            </a:r>
            <a:r>
              <a:rPr dirty="0" err="1"/>
              <a:t>rộng</a:t>
            </a:r>
            <a:r>
              <a:rPr dirty="0"/>
              <a:t> </a:t>
            </a:r>
            <a:r>
              <a:rPr dirty="0" err="1"/>
              <a:t>hệ</a:t>
            </a:r>
            <a:r>
              <a:rPr dirty="0"/>
              <a:t> </a:t>
            </a:r>
            <a:r>
              <a:rPr dirty="0" err="1"/>
              <a:t>thống</a:t>
            </a:r>
            <a:endParaRPr dirty="0"/>
          </a:p>
          <a:p>
            <a:pPr lvl="1" algn="just">
              <a:buFont typeface="Courier New" panose="02070309020205020404" pitchFamily="49" charset="0"/>
              <a:buChar char="o"/>
            </a:pPr>
            <a:r>
              <a:rPr dirty="0" err="1"/>
              <a:t>Bảo</a:t>
            </a:r>
            <a:r>
              <a:rPr dirty="0"/>
              <a:t> </a:t>
            </a:r>
            <a:r>
              <a:rPr dirty="0" err="1"/>
              <a:t>mật</a:t>
            </a:r>
            <a:r>
              <a:rPr dirty="0"/>
              <a:t> &amp; </a:t>
            </a:r>
            <a:r>
              <a:rPr dirty="0" err="1"/>
              <a:t>tích</a:t>
            </a:r>
            <a:r>
              <a:rPr dirty="0"/>
              <a:t> </a:t>
            </a:r>
            <a:r>
              <a:rPr dirty="0" err="1"/>
              <a:t>hợp</a:t>
            </a:r>
            <a:r>
              <a:rPr dirty="0"/>
              <a:t> </a:t>
            </a:r>
            <a:r>
              <a:rPr dirty="0" err="1"/>
              <a:t>hệ</a:t>
            </a:r>
            <a:r>
              <a:rPr dirty="0"/>
              <a:t> </a:t>
            </a:r>
            <a:r>
              <a:rPr dirty="0" err="1"/>
              <a:t>thống</a:t>
            </a:r>
            <a:r>
              <a:rPr dirty="0"/>
              <a:t> </a:t>
            </a:r>
            <a:r>
              <a:rPr dirty="0" err="1"/>
              <a:t>ngoài</a:t>
            </a:r>
            <a:endParaRPr lang="en-US" dirty="0"/>
          </a:p>
          <a:p>
            <a:pPr algn="just">
              <a:buFont typeface="Arial" panose="020B0604020202020204" pitchFamily="34" charset="0"/>
              <a:buChar char="•"/>
            </a:pPr>
            <a:r>
              <a:rPr lang="vi-VN" b="1" dirty="0">
                <a:latin typeface="Calibri" panose="020F0502020204030204" pitchFamily="34" charset="0"/>
                <a:ea typeface="Calibri" panose="020F0502020204030204" pitchFamily="34" charset="0"/>
                <a:cs typeface="Calibri" panose="020F0502020204030204" pitchFamily="34" charset="0"/>
              </a:rPr>
              <a:t>Ví dụ:</a:t>
            </a:r>
            <a:endParaRPr lang="en-US" b="1" dirty="0">
              <a:latin typeface="Calibri" panose="020F0502020204030204" pitchFamily="34" charset="0"/>
              <a:ea typeface="Calibri" panose="020F0502020204030204" pitchFamily="34" charset="0"/>
              <a:cs typeface="Calibri" panose="020F0502020204030204" pitchFamily="34" charset="0"/>
            </a:endParaRPr>
          </a:p>
          <a:p>
            <a:pPr lvl="1" algn="just">
              <a:buFont typeface="Courier New" panose="02070309020205020404" pitchFamily="49" charset="0"/>
              <a:buChar char="o"/>
            </a:pPr>
            <a:r>
              <a:rPr lang="vi-VN" dirty="0">
                <a:latin typeface="Calibri" panose="020F0502020204030204" pitchFamily="34" charset="0"/>
                <a:ea typeface="Calibri" panose="020F0502020204030204" pitchFamily="34" charset="0"/>
                <a:cs typeface="Calibri" panose="020F0502020204030204" pitchFamily="34" charset="0"/>
              </a:rPr>
              <a:t>Hệ thống đảm bảo mức độ sẵn sàng (uptime) tối thiểu 99.9% mỗi năm, có khả năng mở rộng để xử lý lưu lượng truy cập tăng gấp 3 lần trong các đợt khuyến mãi lớn, và được giám sát liên tục bằng hệ thống monitoring.</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 Data &amp; Analytics Objectives</a:t>
            </a:r>
          </a:p>
        </p:txBody>
      </p:sp>
      <p:sp>
        <p:nvSpPr>
          <p:cNvPr id="3" name="Content Placeholder 2"/>
          <p:cNvSpPr>
            <a:spLocks noGrp="1"/>
          </p:cNvSpPr>
          <p:nvPr>
            <p:ph idx="1"/>
          </p:nvPr>
        </p:nvSpPr>
        <p:spPr>
          <a:xfrm>
            <a:off x="457200" y="2421467"/>
            <a:ext cx="8229600" cy="4161896"/>
          </a:xfrm>
        </p:spPr>
        <p:txBody>
          <a:bodyPr>
            <a:normAutofit/>
          </a:bodyPr>
          <a:lstStyle/>
          <a:p>
            <a:pPr algn="just"/>
            <a:r>
              <a:rPr lang="vi-VN" b="1" dirty="0">
                <a:latin typeface="Calibri" panose="020F0502020204030204" pitchFamily="34" charset="0"/>
                <a:ea typeface="Calibri" panose="020F0502020204030204" pitchFamily="34" charset="0"/>
                <a:cs typeface="Calibri" panose="020F0502020204030204" pitchFamily="34" charset="0"/>
              </a:rPr>
              <a:t>Trả lời: </a:t>
            </a:r>
            <a:r>
              <a:rPr lang="vi-VN" b="1" i="1" dirty="0">
                <a:latin typeface="Calibri" panose="020F0502020204030204" pitchFamily="34" charset="0"/>
                <a:ea typeface="Calibri" panose="020F0502020204030204" pitchFamily="34" charset="0"/>
                <a:cs typeface="Calibri" panose="020F0502020204030204" pitchFamily="34" charset="0"/>
              </a:rPr>
              <a:t>Dữ liệu được dùng như thế nào? </a:t>
            </a:r>
            <a:endParaRPr lang="vi-VN" b="1" dirty="0">
              <a:latin typeface="Calibri" panose="020F0502020204030204" pitchFamily="34" charset="0"/>
              <a:ea typeface="Calibri" panose="020F0502020204030204" pitchFamily="34" charset="0"/>
              <a:cs typeface="Calibri" panose="020F0502020204030204" pitchFamily="34" charset="0"/>
            </a:endParaRPr>
          </a:p>
          <a:p>
            <a:pPr lvl="1" algn="just">
              <a:buFont typeface="Courier New" panose="02070309020205020404" pitchFamily="49" charset="0"/>
              <a:buChar char="o"/>
            </a:pPr>
            <a:r>
              <a:rPr lang="vi-VN" dirty="0">
                <a:latin typeface="Calibri" panose="020F0502020204030204" pitchFamily="34" charset="0"/>
                <a:ea typeface="Calibri" panose="020F0502020204030204" pitchFamily="34" charset="0"/>
                <a:cs typeface="Calibri" panose="020F0502020204030204" pitchFamily="34" charset="0"/>
              </a:rPr>
              <a:t>Theo dõi hành vi người dùng </a:t>
            </a:r>
            <a:endParaRPr lang="en-US" dirty="0">
              <a:latin typeface="Calibri" panose="020F0502020204030204" pitchFamily="34" charset="0"/>
              <a:ea typeface="Calibri" panose="020F0502020204030204" pitchFamily="34" charset="0"/>
              <a:cs typeface="Calibri" panose="020F0502020204030204" pitchFamily="34" charset="0"/>
            </a:endParaRPr>
          </a:p>
          <a:p>
            <a:pPr lvl="1" algn="just">
              <a:buFont typeface="Courier New" panose="02070309020205020404" pitchFamily="49" charset="0"/>
              <a:buChar char="o"/>
            </a:pPr>
            <a:r>
              <a:rPr lang="vi-VN" dirty="0">
                <a:latin typeface="Calibri" panose="020F0502020204030204" pitchFamily="34" charset="0"/>
                <a:ea typeface="Calibri" panose="020F0502020204030204" pitchFamily="34" charset="0"/>
                <a:cs typeface="Calibri" panose="020F0502020204030204" pitchFamily="34" charset="0"/>
              </a:rPr>
              <a:t>Báo cáo doanh thu &amp; tồn kho</a:t>
            </a:r>
          </a:p>
          <a:p>
            <a:pPr lvl="1" algn="just">
              <a:buFont typeface="Courier New" panose="02070309020205020404" pitchFamily="49" charset="0"/>
              <a:buChar char="o"/>
            </a:pPr>
            <a:r>
              <a:rPr dirty="0" err="1">
                <a:latin typeface="Calibri" panose="020F0502020204030204" pitchFamily="34" charset="0"/>
                <a:ea typeface="Calibri" panose="020F0502020204030204" pitchFamily="34" charset="0"/>
                <a:cs typeface="Calibri" panose="020F0502020204030204" pitchFamily="34" charset="0"/>
              </a:rPr>
              <a:t>Phân</a:t>
            </a:r>
            <a:r>
              <a:rPr dirty="0">
                <a:latin typeface="Calibri" panose="020F0502020204030204" pitchFamily="34" charset="0"/>
                <a:ea typeface="Calibri" panose="020F0502020204030204" pitchFamily="34" charset="0"/>
                <a:cs typeface="Calibri" panose="020F0502020204030204" pitchFamily="34" charset="0"/>
              </a:rPr>
              <a:t> </a:t>
            </a:r>
            <a:r>
              <a:rPr dirty="0" err="1">
                <a:latin typeface="Calibri" panose="020F0502020204030204" pitchFamily="34" charset="0"/>
                <a:ea typeface="Calibri" panose="020F0502020204030204" pitchFamily="34" charset="0"/>
                <a:cs typeface="Calibri" panose="020F0502020204030204" pitchFamily="34" charset="0"/>
              </a:rPr>
              <a:t>tích</a:t>
            </a:r>
            <a:r>
              <a:rPr dirty="0">
                <a:latin typeface="Calibri" panose="020F0502020204030204" pitchFamily="34" charset="0"/>
                <a:ea typeface="Calibri" panose="020F0502020204030204" pitchFamily="34" charset="0"/>
                <a:cs typeface="Calibri" panose="020F0502020204030204" pitchFamily="34" charset="0"/>
              </a:rPr>
              <a:t> funnel </a:t>
            </a:r>
            <a:r>
              <a:rPr dirty="0" err="1">
                <a:latin typeface="Calibri" panose="020F0502020204030204" pitchFamily="34" charset="0"/>
                <a:ea typeface="Calibri" panose="020F0502020204030204" pitchFamily="34" charset="0"/>
                <a:cs typeface="Calibri" panose="020F0502020204030204" pitchFamily="34" charset="0"/>
              </a:rPr>
              <a:t>bán</a:t>
            </a:r>
            <a:r>
              <a:rPr dirty="0">
                <a:latin typeface="Calibri" panose="020F0502020204030204" pitchFamily="34" charset="0"/>
                <a:ea typeface="Calibri" panose="020F0502020204030204" pitchFamily="34" charset="0"/>
                <a:cs typeface="Calibri" panose="020F0502020204030204" pitchFamily="34" charset="0"/>
              </a:rPr>
              <a:t> </a:t>
            </a:r>
            <a:r>
              <a:rPr dirty="0" err="1">
                <a:latin typeface="Calibri" panose="020F0502020204030204" pitchFamily="34" charset="0"/>
                <a:ea typeface="Calibri" panose="020F0502020204030204" pitchFamily="34" charset="0"/>
                <a:cs typeface="Calibri" panose="020F0502020204030204" pitchFamily="34" charset="0"/>
              </a:rPr>
              <a:t>hàng</a:t>
            </a:r>
            <a:endParaRPr dirty="0">
              <a:latin typeface="Calibri" panose="020F0502020204030204" pitchFamily="34" charset="0"/>
              <a:ea typeface="Calibri" panose="020F0502020204030204" pitchFamily="34" charset="0"/>
              <a:cs typeface="Calibri" panose="020F0502020204030204" pitchFamily="34" charset="0"/>
            </a:endParaRPr>
          </a:p>
          <a:p>
            <a:pPr lvl="1" algn="just">
              <a:buFont typeface="Courier New" panose="02070309020205020404" pitchFamily="49" charset="0"/>
              <a:buChar char="o"/>
            </a:pPr>
            <a:r>
              <a:rPr dirty="0" err="1">
                <a:latin typeface="Calibri" panose="020F0502020204030204" pitchFamily="34" charset="0"/>
                <a:ea typeface="Calibri" panose="020F0502020204030204" pitchFamily="34" charset="0"/>
                <a:cs typeface="Calibri" panose="020F0502020204030204" pitchFamily="34" charset="0"/>
              </a:rPr>
              <a:t>Hỗ</a:t>
            </a:r>
            <a:r>
              <a:rPr dirty="0">
                <a:latin typeface="Calibri" panose="020F0502020204030204" pitchFamily="34" charset="0"/>
                <a:ea typeface="Calibri" panose="020F0502020204030204" pitchFamily="34" charset="0"/>
                <a:cs typeface="Calibri" panose="020F0502020204030204" pitchFamily="34" charset="0"/>
              </a:rPr>
              <a:t> </a:t>
            </a:r>
            <a:r>
              <a:rPr dirty="0" err="1">
                <a:latin typeface="Calibri" panose="020F0502020204030204" pitchFamily="34" charset="0"/>
                <a:ea typeface="Calibri" panose="020F0502020204030204" pitchFamily="34" charset="0"/>
                <a:cs typeface="Calibri" panose="020F0502020204030204" pitchFamily="34" charset="0"/>
              </a:rPr>
              <a:t>trợ</a:t>
            </a:r>
            <a:r>
              <a:rPr dirty="0">
                <a:latin typeface="Calibri" panose="020F0502020204030204" pitchFamily="34" charset="0"/>
                <a:ea typeface="Calibri" panose="020F0502020204030204" pitchFamily="34" charset="0"/>
                <a:cs typeface="Calibri" panose="020F0502020204030204" pitchFamily="34" charset="0"/>
              </a:rPr>
              <a:t> marketing &amp; AI </a:t>
            </a:r>
            <a:r>
              <a:rPr dirty="0" err="1">
                <a:latin typeface="Calibri" panose="020F0502020204030204" pitchFamily="34" charset="0"/>
                <a:ea typeface="Calibri" panose="020F0502020204030204" pitchFamily="34" charset="0"/>
                <a:cs typeface="Calibri" panose="020F0502020204030204" pitchFamily="34" charset="0"/>
              </a:rPr>
              <a:t>sau</a:t>
            </a:r>
            <a:r>
              <a:rPr dirty="0">
                <a:latin typeface="Calibri" panose="020F0502020204030204" pitchFamily="34" charset="0"/>
                <a:ea typeface="Calibri" panose="020F0502020204030204" pitchFamily="34" charset="0"/>
                <a:cs typeface="Calibri" panose="020F0502020204030204" pitchFamily="34" charset="0"/>
              </a:rPr>
              <a:t> </a:t>
            </a:r>
            <a:r>
              <a:rPr dirty="0" err="1">
                <a:latin typeface="Calibri" panose="020F0502020204030204" pitchFamily="34" charset="0"/>
                <a:ea typeface="Calibri" panose="020F0502020204030204" pitchFamily="34" charset="0"/>
                <a:cs typeface="Calibri" panose="020F0502020204030204" pitchFamily="34" charset="0"/>
              </a:rPr>
              <a:t>này</a:t>
            </a:r>
            <a:endParaRPr lang="en-US" dirty="0">
              <a:latin typeface="Calibri" panose="020F0502020204030204" pitchFamily="34" charset="0"/>
              <a:ea typeface="Calibri" panose="020F0502020204030204" pitchFamily="34" charset="0"/>
              <a:cs typeface="Calibri" panose="020F0502020204030204" pitchFamily="34" charset="0"/>
            </a:endParaRPr>
          </a:p>
          <a:p>
            <a:pPr algn="just">
              <a:buFont typeface="Arial" panose="020B0604020202020204" pitchFamily="34" charset="0"/>
              <a:buChar char="•"/>
            </a:pPr>
            <a:r>
              <a:rPr lang="vi-VN" b="1" dirty="0">
                <a:latin typeface="Calibri" panose="020F0502020204030204" pitchFamily="34" charset="0"/>
                <a:ea typeface="Calibri" panose="020F0502020204030204" pitchFamily="34" charset="0"/>
                <a:cs typeface="Calibri" panose="020F0502020204030204" pitchFamily="34" charset="0"/>
              </a:rPr>
              <a:t>Ví dụ:</a:t>
            </a:r>
            <a:endParaRPr lang="en-US" b="1" dirty="0">
              <a:latin typeface="Calibri" panose="020F0502020204030204" pitchFamily="34" charset="0"/>
              <a:ea typeface="Calibri" panose="020F0502020204030204" pitchFamily="34" charset="0"/>
              <a:cs typeface="Calibri" panose="020F0502020204030204" pitchFamily="34" charset="0"/>
            </a:endParaRPr>
          </a:p>
          <a:p>
            <a:pPr lvl="1" algn="just">
              <a:buFont typeface="Courier New" panose="02070309020205020404" pitchFamily="49" charset="0"/>
              <a:buChar char="o"/>
            </a:pPr>
            <a:r>
              <a:rPr lang="vi-VN" dirty="0">
                <a:latin typeface="Calibri" panose="020F0502020204030204" pitchFamily="34" charset="0"/>
                <a:ea typeface="Calibri" panose="020F0502020204030204" pitchFamily="34" charset="0"/>
                <a:cs typeface="Calibri" panose="020F0502020204030204" pitchFamily="34" charset="0"/>
              </a:rPr>
              <a:t>Hệ thống cung cấp dashboard theo thời gian thực (real-time) hiển thị doanh thu, tỷ lệ chuyển đổi và hành vi người dùng, với độ trễ dữ liệu không vượt quá 5 phút, và cho phép truy cập bởi các vai trò quản lý được phân quyền.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6. Operation Objectives</a:t>
            </a:r>
          </a:p>
        </p:txBody>
      </p:sp>
      <p:sp>
        <p:nvSpPr>
          <p:cNvPr id="3" name="Content Placeholder 2"/>
          <p:cNvSpPr>
            <a:spLocks noGrp="1"/>
          </p:cNvSpPr>
          <p:nvPr>
            <p:ph idx="1"/>
          </p:nvPr>
        </p:nvSpPr>
        <p:spPr>
          <a:xfrm>
            <a:off x="457200" y="2548467"/>
            <a:ext cx="8229600" cy="3937000"/>
          </a:xfrm>
        </p:spPr>
        <p:txBody>
          <a:bodyPr>
            <a:normAutofit/>
          </a:bodyPr>
          <a:lstStyle/>
          <a:p>
            <a:pPr algn="just"/>
            <a:r>
              <a:rPr lang="en-US" b="1" dirty="0" err="1"/>
              <a:t>Trả</a:t>
            </a:r>
            <a:r>
              <a:rPr lang="en-US" b="1" dirty="0"/>
              <a:t> </a:t>
            </a:r>
            <a:r>
              <a:rPr lang="en-US" b="1" dirty="0" err="1"/>
              <a:t>lời</a:t>
            </a:r>
            <a:r>
              <a:rPr lang="en-US" b="1" dirty="0"/>
              <a:t>: </a:t>
            </a:r>
            <a:r>
              <a:rPr lang="en-US" b="1" i="1" dirty="0" err="1"/>
              <a:t>Hệ</a:t>
            </a:r>
            <a:r>
              <a:rPr lang="en-US" b="1" i="1" dirty="0"/>
              <a:t> </a:t>
            </a:r>
            <a:r>
              <a:rPr lang="en-US" b="1" i="1" dirty="0" err="1"/>
              <a:t>thống</a:t>
            </a:r>
            <a:r>
              <a:rPr lang="en-US" b="1" i="1" dirty="0"/>
              <a:t> </a:t>
            </a:r>
            <a:r>
              <a:rPr lang="en-US" b="1" i="1" dirty="0" err="1"/>
              <a:t>có</a:t>
            </a:r>
            <a:r>
              <a:rPr lang="en-US" b="1" i="1" dirty="0"/>
              <a:t> </a:t>
            </a:r>
            <a:r>
              <a:rPr lang="en-US" b="1" i="1" dirty="0" err="1"/>
              <a:t>dễ</a:t>
            </a:r>
            <a:r>
              <a:rPr lang="en-US" b="1" i="1" dirty="0"/>
              <a:t> </a:t>
            </a:r>
            <a:r>
              <a:rPr lang="en-US" b="1" i="1" dirty="0" err="1"/>
              <a:t>vận</a:t>
            </a:r>
            <a:r>
              <a:rPr lang="en-US" b="1" i="1" dirty="0"/>
              <a:t> </a:t>
            </a:r>
            <a:r>
              <a:rPr lang="en-US" b="1" i="1" dirty="0" err="1"/>
              <a:t>hành</a:t>
            </a:r>
            <a:r>
              <a:rPr lang="en-US" b="1" i="1" dirty="0"/>
              <a:t> </a:t>
            </a:r>
            <a:r>
              <a:rPr lang="en-US" b="1" i="1" dirty="0" err="1"/>
              <a:t>không</a:t>
            </a:r>
            <a:r>
              <a:rPr lang="en-US" b="1" i="1" dirty="0"/>
              <a:t>? </a:t>
            </a:r>
            <a:endParaRPr b="1" dirty="0"/>
          </a:p>
          <a:p>
            <a:pPr lvl="1" algn="just">
              <a:buFont typeface="Courier New" panose="02070309020205020404" pitchFamily="49" charset="0"/>
              <a:buChar char="o"/>
            </a:pPr>
            <a:r>
              <a:rPr lang="en-US" dirty="0" err="1"/>
              <a:t>Dễ</a:t>
            </a:r>
            <a:r>
              <a:rPr lang="en-US" dirty="0"/>
              <a:t> </a:t>
            </a:r>
            <a:r>
              <a:rPr lang="en-US" dirty="0" err="1"/>
              <a:t>quản</a:t>
            </a:r>
            <a:r>
              <a:rPr lang="en-US" dirty="0"/>
              <a:t> </a:t>
            </a:r>
            <a:r>
              <a:rPr lang="en-US" dirty="0" err="1"/>
              <a:t>trị</a:t>
            </a:r>
            <a:r>
              <a:rPr lang="en-US" dirty="0"/>
              <a:t> </a:t>
            </a:r>
            <a:r>
              <a:rPr lang="en-US" dirty="0" err="1"/>
              <a:t>và</a:t>
            </a:r>
            <a:r>
              <a:rPr lang="en-US" dirty="0"/>
              <a:t> </a:t>
            </a:r>
            <a:r>
              <a:rPr lang="en-US" dirty="0" err="1"/>
              <a:t>vận</a:t>
            </a:r>
            <a:r>
              <a:rPr lang="en-US" dirty="0"/>
              <a:t> </a:t>
            </a:r>
            <a:r>
              <a:rPr lang="en-US" dirty="0" err="1"/>
              <a:t>hành</a:t>
            </a:r>
            <a:r>
              <a:rPr lang="en-US" dirty="0"/>
              <a:t> </a:t>
            </a:r>
          </a:p>
          <a:p>
            <a:pPr lvl="1" algn="just">
              <a:buFont typeface="Courier New" panose="02070309020205020404" pitchFamily="49" charset="0"/>
              <a:buChar char="o"/>
            </a:pPr>
            <a:r>
              <a:rPr dirty="0"/>
              <a:t>Sao </a:t>
            </a:r>
            <a:r>
              <a:rPr dirty="0" err="1"/>
              <a:t>lưu</a:t>
            </a:r>
            <a:r>
              <a:rPr dirty="0"/>
              <a:t> &amp; </a:t>
            </a:r>
            <a:r>
              <a:rPr dirty="0" err="1"/>
              <a:t>phục</a:t>
            </a:r>
            <a:r>
              <a:rPr dirty="0"/>
              <a:t> </a:t>
            </a:r>
            <a:r>
              <a:rPr dirty="0" err="1"/>
              <a:t>hồi</a:t>
            </a:r>
            <a:r>
              <a:rPr dirty="0"/>
              <a:t> </a:t>
            </a:r>
            <a:r>
              <a:rPr dirty="0" err="1"/>
              <a:t>dữ</a:t>
            </a:r>
            <a:r>
              <a:rPr dirty="0"/>
              <a:t> </a:t>
            </a:r>
            <a:r>
              <a:rPr dirty="0" err="1"/>
              <a:t>liệu</a:t>
            </a:r>
            <a:endParaRPr dirty="0"/>
          </a:p>
          <a:p>
            <a:pPr lvl="1" algn="just">
              <a:buFont typeface="Courier New" panose="02070309020205020404" pitchFamily="49" charset="0"/>
              <a:buChar char="o"/>
            </a:pPr>
            <a:r>
              <a:rPr dirty="0" err="1"/>
              <a:t>Giám</a:t>
            </a:r>
            <a:r>
              <a:rPr dirty="0"/>
              <a:t> </a:t>
            </a:r>
            <a:r>
              <a:rPr dirty="0" err="1"/>
              <a:t>sát</a:t>
            </a:r>
            <a:r>
              <a:rPr dirty="0"/>
              <a:t> </a:t>
            </a:r>
            <a:r>
              <a:rPr dirty="0" err="1"/>
              <a:t>hệ</a:t>
            </a:r>
            <a:r>
              <a:rPr dirty="0"/>
              <a:t> </a:t>
            </a:r>
            <a:r>
              <a:rPr dirty="0" err="1"/>
              <a:t>thống</a:t>
            </a:r>
            <a:endParaRPr dirty="0"/>
          </a:p>
          <a:p>
            <a:pPr lvl="1" algn="just">
              <a:buFont typeface="Courier New" panose="02070309020205020404" pitchFamily="49" charset="0"/>
              <a:buChar char="o"/>
            </a:pPr>
            <a:r>
              <a:rPr dirty="0" err="1"/>
              <a:t>Giảm</a:t>
            </a:r>
            <a:r>
              <a:rPr dirty="0"/>
              <a:t> </a:t>
            </a:r>
            <a:r>
              <a:rPr dirty="0" err="1"/>
              <a:t>thời</a:t>
            </a:r>
            <a:r>
              <a:rPr dirty="0"/>
              <a:t> </a:t>
            </a:r>
            <a:r>
              <a:rPr dirty="0" err="1"/>
              <a:t>gian</a:t>
            </a:r>
            <a:r>
              <a:rPr dirty="0"/>
              <a:t> </a:t>
            </a:r>
            <a:r>
              <a:rPr dirty="0" err="1"/>
              <a:t>xử</a:t>
            </a:r>
            <a:r>
              <a:rPr dirty="0"/>
              <a:t> </a:t>
            </a:r>
            <a:r>
              <a:rPr dirty="0" err="1"/>
              <a:t>lý</a:t>
            </a:r>
            <a:r>
              <a:rPr dirty="0"/>
              <a:t> </a:t>
            </a:r>
            <a:r>
              <a:rPr dirty="0" err="1"/>
              <a:t>đơn</a:t>
            </a:r>
            <a:r>
              <a:rPr dirty="0"/>
              <a:t> </a:t>
            </a:r>
            <a:r>
              <a:rPr dirty="0" err="1"/>
              <a:t>h</a:t>
            </a:r>
            <a:r>
              <a:rPr lang="en-US" dirty="0" err="1"/>
              <a:t>à</a:t>
            </a:r>
            <a:r>
              <a:rPr dirty="0" err="1"/>
              <a:t>ng</a:t>
            </a:r>
            <a:endParaRPr lang="en-US" dirty="0"/>
          </a:p>
          <a:p>
            <a:pPr algn="just">
              <a:buFont typeface="Arial" panose="020B0604020202020204" pitchFamily="34" charset="0"/>
              <a:buChar char="•"/>
            </a:pPr>
            <a:r>
              <a:rPr lang="vi-VN" b="1" dirty="0">
                <a:latin typeface="Calibri" panose="020F0502020204030204" pitchFamily="34" charset="0"/>
                <a:ea typeface="Calibri" panose="020F0502020204030204" pitchFamily="34" charset="0"/>
                <a:cs typeface="Calibri" panose="020F0502020204030204" pitchFamily="34" charset="0"/>
              </a:rPr>
              <a:t>Ví dụ:</a:t>
            </a:r>
            <a:endParaRPr lang="en-US" b="1" dirty="0">
              <a:latin typeface="Calibri" panose="020F0502020204030204" pitchFamily="34" charset="0"/>
              <a:ea typeface="Calibri" panose="020F0502020204030204" pitchFamily="34" charset="0"/>
              <a:cs typeface="Calibri" panose="020F0502020204030204" pitchFamily="34" charset="0"/>
            </a:endParaRPr>
          </a:p>
          <a:p>
            <a:pPr lvl="1" algn="just">
              <a:buFont typeface="Courier New" panose="02070309020205020404" pitchFamily="49" charset="0"/>
              <a:buChar char="o"/>
            </a:pPr>
            <a:r>
              <a:rPr lang="vi-VN" dirty="0">
                <a:latin typeface="Calibri" panose="020F0502020204030204" pitchFamily="34" charset="0"/>
                <a:ea typeface="Calibri" panose="020F0502020204030204" pitchFamily="34" charset="0"/>
                <a:cs typeface="Calibri" panose="020F0502020204030204" pitchFamily="34" charset="0"/>
              </a:rPr>
              <a:t>Hệ thống tự động hóa các bước xử lý đơn hàng, nhằm giảm thời gian xử lý thủ công xuống dưới 5 phút cho mỗi đơn, áp dụng cho tối thiểu 90% tổng số đơn hàng, và được đo lường thông qua log hệ thống.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7. Legal &amp; Compliance Objectives</a:t>
            </a:r>
          </a:p>
        </p:txBody>
      </p:sp>
      <p:sp>
        <p:nvSpPr>
          <p:cNvPr id="3" name="Content Placeholder 2"/>
          <p:cNvSpPr>
            <a:spLocks noGrp="1"/>
          </p:cNvSpPr>
          <p:nvPr>
            <p:ph idx="1"/>
          </p:nvPr>
        </p:nvSpPr>
        <p:spPr>
          <a:xfrm>
            <a:off x="457200" y="2506132"/>
            <a:ext cx="8229600" cy="4077229"/>
          </a:xfrm>
        </p:spPr>
        <p:txBody>
          <a:bodyPr>
            <a:normAutofit/>
          </a:bodyPr>
          <a:lstStyle/>
          <a:p>
            <a:pPr algn="just"/>
            <a:r>
              <a:rPr lang="en-US" b="1" dirty="0" err="1"/>
              <a:t>Trả</a:t>
            </a:r>
            <a:r>
              <a:rPr lang="en-US" b="1" dirty="0"/>
              <a:t> </a:t>
            </a:r>
            <a:r>
              <a:rPr lang="en-US" b="1" dirty="0" err="1"/>
              <a:t>lời</a:t>
            </a:r>
            <a:r>
              <a:rPr lang="en-US" b="1" dirty="0"/>
              <a:t>: </a:t>
            </a:r>
            <a:r>
              <a:rPr lang="en-US" b="1" i="1" dirty="0" err="1"/>
              <a:t>Có</a:t>
            </a:r>
            <a:r>
              <a:rPr lang="en-US" b="1" i="1" dirty="0"/>
              <a:t> </a:t>
            </a:r>
            <a:r>
              <a:rPr lang="en-US" b="1" i="1" dirty="0" err="1"/>
              <a:t>tuân</a:t>
            </a:r>
            <a:r>
              <a:rPr lang="en-US" b="1" i="1" dirty="0"/>
              <a:t> </a:t>
            </a:r>
            <a:r>
              <a:rPr lang="en-US" b="1" i="1" dirty="0" err="1"/>
              <a:t>thủ</a:t>
            </a:r>
            <a:r>
              <a:rPr lang="en-US" b="1" i="1" dirty="0"/>
              <a:t> </a:t>
            </a:r>
            <a:r>
              <a:rPr lang="en-US" b="1" i="1" dirty="0" err="1"/>
              <a:t>pháp</a:t>
            </a:r>
            <a:r>
              <a:rPr lang="en-US" b="1" i="1" dirty="0"/>
              <a:t> </a:t>
            </a:r>
            <a:r>
              <a:rPr lang="en-US" b="1" i="1" dirty="0" err="1"/>
              <a:t>lý</a:t>
            </a:r>
            <a:r>
              <a:rPr lang="en-US" b="1" i="1" dirty="0"/>
              <a:t> </a:t>
            </a:r>
            <a:r>
              <a:rPr lang="en-US" b="1" i="1" dirty="0" err="1"/>
              <a:t>không</a:t>
            </a:r>
            <a:r>
              <a:rPr lang="en-US" b="1" i="1" dirty="0"/>
              <a:t>? </a:t>
            </a:r>
            <a:endParaRPr b="1" dirty="0"/>
          </a:p>
          <a:p>
            <a:pPr lvl="1" algn="just">
              <a:buFont typeface="Courier New" panose="02070309020205020404" pitchFamily="49" charset="0"/>
              <a:buChar char="o"/>
            </a:pPr>
            <a:r>
              <a:rPr lang="en-US" dirty="0" err="1"/>
              <a:t>Bảo</a:t>
            </a:r>
            <a:r>
              <a:rPr lang="en-US" dirty="0"/>
              <a:t> </a:t>
            </a:r>
            <a:r>
              <a:rPr lang="en-US" dirty="0" err="1"/>
              <a:t>mật</a:t>
            </a:r>
            <a:r>
              <a:rPr lang="en-US" dirty="0"/>
              <a:t> </a:t>
            </a:r>
            <a:r>
              <a:rPr lang="en-US" dirty="0" err="1"/>
              <a:t>dữ</a:t>
            </a:r>
            <a:r>
              <a:rPr lang="en-US" dirty="0"/>
              <a:t> </a:t>
            </a:r>
            <a:r>
              <a:rPr lang="en-US" dirty="0" err="1"/>
              <a:t>liệu</a:t>
            </a:r>
            <a:r>
              <a:rPr lang="en-US" dirty="0"/>
              <a:t> </a:t>
            </a:r>
            <a:r>
              <a:rPr lang="en-US" dirty="0" err="1"/>
              <a:t>cá</a:t>
            </a:r>
            <a:r>
              <a:rPr lang="en-US" dirty="0"/>
              <a:t> </a:t>
            </a:r>
            <a:r>
              <a:rPr lang="en-US" dirty="0" err="1"/>
              <a:t>nhân</a:t>
            </a:r>
            <a:r>
              <a:rPr lang="en-US" dirty="0"/>
              <a:t> </a:t>
            </a:r>
          </a:p>
          <a:p>
            <a:pPr lvl="1" algn="just">
              <a:buFont typeface="Courier New" panose="02070309020205020404" pitchFamily="49" charset="0"/>
              <a:buChar char="o"/>
            </a:pPr>
            <a:r>
              <a:rPr dirty="0" err="1"/>
              <a:t>Tuân</a:t>
            </a:r>
            <a:r>
              <a:rPr dirty="0"/>
              <a:t> </a:t>
            </a:r>
            <a:r>
              <a:rPr dirty="0" err="1"/>
              <a:t>thủ</a:t>
            </a:r>
            <a:r>
              <a:rPr dirty="0"/>
              <a:t> </a:t>
            </a:r>
            <a:r>
              <a:rPr dirty="0" err="1"/>
              <a:t>luật</a:t>
            </a:r>
            <a:r>
              <a:rPr dirty="0"/>
              <a:t> </a:t>
            </a:r>
            <a:r>
              <a:rPr dirty="0" err="1"/>
              <a:t>thương</a:t>
            </a:r>
            <a:r>
              <a:rPr dirty="0"/>
              <a:t> </a:t>
            </a:r>
            <a:r>
              <a:rPr dirty="0" err="1"/>
              <a:t>mại</a:t>
            </a:r>
            <a:r>
              <a:rPr dirty="0"/>
              <a:t> </a:t>
            </a:r>
            <a:r>
              <a:rPr dirty="0" err="1"/>
              <a:t>điện</a:t>
            </a:r>
            <a:r>
              <a:rPr dirty="0"/>
              <a:t> </a:t>
            </a:r>
            <a:r>
              <a:rPr dirty="0" err="1"/>
              <a:t>tử</a:t>
            </a:r>
            <a:endParaRPr dirty="0"/>
          </a:p>
          <a:p>
            <a:pPr lvl="1" algn="just">
              <a:buFont typeface="Courier New" panose="02070309020205020404" pitchFamily="49" charset="0"/>
              <a:buChar char="o"/>
            </a:pPr>
            <a:r>
              <a:rPr dirty="0" err="1"/>
              <a:t>Chính</a:t>
            </a:r>
            <a:r>
              <a:rPr dirty="0"/>
              <a:t> </a:t>
            </a:r>
            <a:r>
              <a:rPr dirty="0" err="1"/>
              <a:t>sách</a:t>
            </a:r>
            <a:r>
              <a:rPr dirty="0"/>
              <a:t> </a:t>
            </a:r>
            <a:r>
              <a:rPr dirty="0" err="1"/>
              <a:t>hoàn</a:t>
            </a:r>
            <a:r>
              <a:rPr dirty="0"/>
              <a:t> </a:t>
            </a:r>
            <a:r>
              <a:rPr dirty="0" err="1"/>
              <a:t>trả</a:t>
            </a:r>
            <a:r>
              <a:rPr dirty="0"/>
              <a:t> </a:t>
            </a:r>
            <a:r>
              <a:rPr dirty="0" err="1"/>
              <a:t>rõ</a:t>
            </a:r>
            <a:r>
              <a:rPr dirty="0"/>
              <a:t> </a:t>
            </a:r>
            <a:r>
              <a:rPr dirty="0" err="1"/>
              <a:t>r</a:t>
            </a:r>
            <a:r>
              <a:rPr lang="en-US" dirty="0" err="1"/>
              <a:t>à</a:t>
            </a:r>
            <a:r>
              <a:rPr dirty="0" err="1"/>
              <a:t>ng</a:t>
            </a:r>
            <a:endParaRPr lang="en-US" dirty="0"/>
          </a:p>
          <a:p>
            <a:pPr lvl="1" algn="just">
              <a:buFont typeface="Courier New" panose="02070309020205020404" pitchFamily="49" charset="0"/>
              <a:buChar char="o"/>
            </a:pPr>
            <a:r>
              <a:rPr lang="en-US" dirty="0" err="1"/>
              <a:t>Điều</a:t>
            </a:r>
            <a:r>
              <a:rPr lang="en-US" dirty="0"/>
              <a:t> </a:t>
            </a:r>
            <a:r>
              <a:rPr lang="en-US" dirty="0" err="1"/>
              <a:t>khoản</a:t>
            </a:r>
            <a:r>
              <a:rPr lang="en-US" dirty="0"/>
              <a:t> &amp; </a:t>
            </a:r>
            <a:r>
              <a:rPr lang="en-US" dirty="0" err="1"/>
              <a:t>điều</a:t>
            </a:r>
            <a:r>
              <a:rPr lang="en-US" dirty="0"/>
              <a:t> </a:t>
            </a:r>
            <a:r>
              <a:rPr lang="en-US" dirty="0" err="1"/>
              <a:t>kiện</a:t>
            </a:r>
            <a:r>
              <a:rPr lang="en-US" dirty="0"/>
              <a:t> </a:t>
            </a:r>
            <a:r>
              <a:rPr lang="en-US" dirty="0" err="1"/>
              <a:t>rõ</a:t>
            </a:r>
            <a:r>
              <a:rPr lang="en-US" dirty="0"/>
              <a:t> </a:t>
            </a:r>
            <a:r>
              <a:rPr lang="en-US" dirty="0" err="1"/>
              <a:t>ràng</a:t>
            </a:r>
            <a:endParaRPr lang="en-US" dirty="0"/>
          </a:p>
          <a:p>
            <a:pPr algn="just">
              <a:buFont typeface="Arial" panose="020B0604020202020204" pitchFamily="34" charset="0"/>
              <a:buChar char="•"/>
            </a:pPr>
            <a:r>
              <a:rPr lang="en-US" b="1" dirty="0" err="1">
                <a:latin typeface="+mj-lt"/>
              </a:rPr>
              <a:t>Ví</a:t>
            </a:r>
            <a:r>
              <a:rPr lang="en-US" b="1" dirty="0">
                <a:latin typeface="+mj-lt"/>
              </a:rPr>
              <a:t> </a:t>
            </a:r>
            <a:r>
              <a:rPr lang="en-US" b="1" dirty="0" err="1">
                <a:latin typeface="+mj-lt"/>
              </a:rPr>
              <a:t>dụ</a:t>
            </a:r>
            <a:r>
              <a:rPr lang="en-US" b="1" dirty="0">
                <a:latin typeface="+mj-lt"/>
              </a:rPr>
              <a:t>:</a:t>
            </a:r>
          </a:p>
          <a:p>
            <a:pPr lvl="1" algn="just">
              <a:buFont typeface="Courier New" panose="02070309020205020404" pitchFamily="49" charset="0"/>
              <a:buChar char="o"/>
            </a:pPr>
            <a:r>
              <a:rPr lang="vi-VN" dirty="0">
                <a:latin typeface="Calibri" panose="020F0502020204030204" pitchFamily="34" charset="0"/>
                <a:ea typeface="Calibri" panose="020F0502020204030204" pitchFamily="34" charset="0"/>
                <a:cs typeface="Calibri" panose="020F0502020204030204" pitchFamily="34" charset="0"/>
              </a:rPr>
              <a:t>Hệ thống cung cấp đầy đủ và công khai các chính sách bắt buộc, bao gồm điều khoản sử dụng, chính sách bảo mật và chính sách đổi trả, đảm bảo người dùng có thể truy cập trước khi hoàn tất giao dịch, và tuân thủ các quy định pháp luật hiện hành về thương mại điện tử.</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AC9BF-E7B7-EBA6-A602-225CE0D8890F}"/>
              </a:ext>
            </a:extLst>
          </p:cNvPr>
          <p:cNvSpPr>
            <a:spLocks noGrp="1"/>
          </p:cNvSpPr>
          <p:nvPr>
            <p:ph type="title"/>
          </p:nvPr>
        </p:nvSpPr>
        <p:spPr>
          <a:xfrm>
            <a:off x="457200" y="180446"/>
            <a:ext cx="8229600" cy="572029"/>
          </a:xfrm>
        </p:spPr>
        <p:txBody>
          <a:bodyPr>
            <a:normAutofit fontScale="90000"/>
          </a:bodyPr>
          <a:lstStyle/>
          <a:p>
            <a:r>
              <a:rPr lang="en-US" dirty="0" err="1"/>
              <a:t>Ví</a:t>
            </a:r>
            <a:r>
              <a:rPr lang="en-US" dirty="0"/>
              <a:t> </a:t>
            </a:r>
            <a:r>
              <a:rPr lang="en-US" dirty="0" err="1"/>
              <a:t>dụ</a:t>
            </a:r>
            <a:endParaRPr lang="en-US" dirty="0"/>
          </a:p>
        </p:txBody>
      </p:sp>
      <p:sp>
        <p:nvSpPr>
          <p:cNvPr id="3" name="Content Placeholder 2">
            <a:extLst>
              <a:ext uri="{FF2B5EF4-FFF2-40B4-BE49-F238E27FC236}">
                <a16:creationId xmlns:a16="http://schemas.microsoft.com/office/drawing/2014/main" id="{E4F5C708-8F6F-8382-9CB4-B794600EEB2D}"/>
              </a:ext>
            </a:extLst>
          </p:cNvPr>
          <p:cNvSpPr>
            <a:spLocks noGrp="1"/>
          </p:cNvSpPr>
          <p:nvPr>
            <p:ph idx="1"/>
          </p:nvPr>
        </p:nvSpPr>
        <p:spPr>
          <a:xfrm>
            <a:off x="457200" y="939800"/>
            <a:ext cx="8229600" cy="5737754"/>
          </a:xfrm>
        </p:spPr>
        <p:txBody>
          <a:bodyPr>
            <a:normAutofit/>
          </a:bodyPr>
          <a:lstStyle/>
          <a:p>
            <a:pPr marL="0" indent="0" algn="just">
              <a:buNone/>
            </a:pPr>
            <a:r>
              <a:rPr lang="vi-VN" dirty="0">
                <a:latin typeface="Calibri (Body)"/>
              </a:rPr>
              <a:t>4.1. </a:t>
            </a:r>
            <a:r>
              <a:rPr lang="vi-VN" b="1" dirty="0">
                <a:latin typeface="Calibri (Body)"/>
              </a:rPr>
              <a:t>Quản lý và xử lý đơn hàng thương mại điện tử</a:t>
            </a:r>
            <a:endParaRPr lang="en-US" b="1" dirty="0">
              <a:latin typeface="Calibri (Body)"/>
            </a:endParaRPr>
          </a:p>
          <a:p>
            <a:pPr marL="457200" lvl="1" indent="0" algn="just">
              <a:buNone/>
            </a:pPr>
            <a:r>
              <a:rPr lang="vi-VN" dirty="0">
                <a:latin typeface="Calibri (Body)"/>
              </a:rPr>
              <a:t>4.1.1. Mô tả chi tiết objective theo SMART</a:t>
            </a:r>
            <a:r>
              <a:rPr lang="en-US" dirty="0">
                <a:latin typeface="Calibri (Body)"/>
              </a:rPr>
              <a:t>: </a:t>
            </a:r>
            <a:r>
              <a:rPr lang="vi-VN" dirty="0">
                <a:latin typeface="Calibri (Body)"/>
              </a:rPr>
              <a:t>Hệ thống thương mại điện tử có khả năng tiếp nhận, xử lý và theo dõi toàn bộ vòng đời đơn hàng, từ lúc khách hàng đặt mua đến khi hoàn tất giao hàng, đảm bảo tối thiểu 95% đơn hàng được xử lý tự động, thời gian xác nhận đơn hàng không vượt quá 5 giây, giảm thiểu lỗi xử lý thủ công, và đáp ứng yêu cầu vận hành liên tục trong giờ cao điểm bán hàng.</a:t>
            </a:r>
            <a:endParaRPr lang="en-US" dirty="0">
              <a:latin typeface="Calibri (Body)"/>
            </a:endParaRPr>
          </a:p>
          <a:p>
            <a:pPr marL="457200" lvl="1" indent="0" algn="just">
              <a:buNone/>
            </a:pPr>
            <a:r>
              <a:rPr lang="vi-VN" dirty="0">
                <a:latin typeface="Calibri" panose="020F0502020204030204" pitchFamily="34" charset="0"/>
                <a:ea typeface="Calibri" panose="020F0502020204030204" pitchFamily="34" charset="0"/>
                <a:cs typeface="Calibri" panose="020F0502020204030204" pitchFamily="34" charset="0"/>
              </a:rPr>
              <a:t>4.1.2. Tự động tiếp nhận và lưu trữ dữ liệu đơn hàng</a:t>
            </a:r>
            <a:r>
              <a:rPr lang="en-US" dirty="0">
                <a:latin typeface="Calibri" panose="020F0502020204030204" pitchFamily="34" charset="0"/>
                <a:ea typeface="Calibri" panose="020F0502020204030204" pitchFamily="34" charset="0"/>
                <a:cs typeface="Calibri" panose="020F0502020204030204" pitchFamily="34" charset="0"/>
              </a:rPr>
              <a:t> [1 day]</a:t>
            </a:r>
          </a:p>
          <a:p>
            <a:pPr marL="457200" lvl="1" indent="0" algn="just">
              <a:buNone/>
            </a:pPr>
            <a:r>
              <a:rPr lang="vi-VN" dirty="0">
                <a:latin typeface="Calibri" panose="020F0502020204030204" pitchFamily="34" charset="0"/>
                <a:ea typeface="Calibri" panose="020F0502020204030204" pitchFamily="34" charset="0"/>
                <a:cs typeface="Calibri" panose="020F0502020204030204" pitchFamily="34" charset="0"/>
              </a:rPr>
              <a:t>4.1.3. Tự động xác thực thanh toán và cập nhật trạng thái đơn hàng theo thời gian thực </a:t>
            </a:r>
            <a:r>
              <a:rPr lang="en-US" dirty="0">
                <a:latin typeface="Calibri" panose="020F0502020204030204" pitchFamily="34" charset="0"/>
                <a:ea typeface="Calibri" panose="020F0502020204030204" pitchFamily="34" charset="0"/>
                <a:cs typeface="Calibri" panose="020F0502020204030204" pitchFamily="34" charset="0"/>
              </a:rPr>
              <a:t>[2 days]</a:t>
            </a:r>
          </a:p>
          <a:p>
            <a:pPr marL="457200" lvl="1" indent="0" algn="just">
              <a:buNone/>
            </a:pPr>
            <a:r>
              <a:rPr lang="vi-VN" dirty="0">
                <a:latin typeface="Calibri" panose="020F0502020204030204" pitchFamily="34" charset="0"/>
                <a:ea typeface="Calibri" panose="020F0502020204030204" pitchFamily="34" charset="0"/>
                <a:cs typeface="Calibri" panose="020F0502020204030204" pitchFamily="34" charset="0"/>
              </a:rPr>
              <a:t>4.1.4. </a:t>
            </a:r>
            <a:r>
              <a:rPr lang="en-US" dirty="0" err="1"/>
              <a:t>Đồng</a:t>
            </a:r>
            <a:r>
              <a:rPr lang="en-US" dirty="0"/>
              <a:t> </a:t>
            </a:r>
            <a:r>
              <a:rPr lang="en-US" dirty="0" err="1"/>
              <a:t>bộ</a:t>
            </a:r>
            <a:r>
              <a:rPr lang="en-US" dirty="0"/>
              <a:t> </a:t>
            </a:r>
            <a:r>
              <a:rPr lang="en-US" dirty="0" err="1"/>
              <a:t>trạng</a:t>
            </a:r>
            <a:r>
              <a:rPr lang="en-US" dirty="0"/>
              <a:t> </a:t>
            </a:r>
            <a:r>
              <a:rPr lang="en-US" dirty="0" err="1"/>
              <a:t>thái</a:t>
            </a:r>
            <a:r>
              <a:rPr lang="en-US" dirty="0"/>
              <a:t> </a:t>
            </a:r>
            <a:r>
              <a:rPr lang="en-US" dirty="0" err="1"/>
              <a:t>giao</a:t>
            </a:r>
            <a:r>
              <a:rPr lang="en-US" dirty="0"/>
              <a:t> </a:t>
            </a:r>
            <a:r>
              <a:rPr lang="en-US" dirty="0" err="1"/>
              <a:t>hàng</a:t>
            </a:r>
            <a:r>
              <a:rPr lang="en-US" dirty="0"/>
              <a:t> </a:t>
            </a:r>
            <a:r>
              <a:rPr lang="en-US" dirty="0" err="1"/>
              <a:t>với</a:t>
            </a:r>
            <a:r>
              <a:rPr lang="en-US" dirty="0"/>
              <a:t> </a:t>
            </a:r>
            <a:r>
              <a:rPr lang="en-US" dirty="0" err="1"/>
              <a:t>hệ</a:t>
            </a:r>
            <a:r>
              <a:rPr lang="en-US" dirty="0"/>
              <a:t> </a:t>
            </a:r>
            <a:r>
              <a:rPr lang="en-US" dirty="0" err="1"/>
              <a:t>thống</a:t>
            </a:r>
            <a:r>
              <a:rPr lang="en-US" dirty="0"/>
              <a:t> </a:t>
            </a:r>
            <a:r>
              <a:rPr lang="en-US" dirty="0" err="1"/>
              <a:t>vận</a:t>
            </a:r>
            <a:r>
              <a:rPr lang="en-US" dirty="0"/>
              <a:t> </a:t>
            </a:r>
            <a:r>
              <a:rPr lang="en-US" dirty="0" err="1"/>
              <a:t>chuyển</a:t>
            </a:r>
            <a:r>
              <a:rPr lang="en-US" dirty="0"/>
              <a:t> </a:t>
            </a:r>
            <a:r>
              <a:rPr lang="en-US" dirty="0" err="1"/>
              <a:t>và</a:t>
            </a:r>
            <a:r>
              <a:rPr lang="en-US" dirty="0"/>
              <a:t> </a:t>
            </a:r>
            <a:r>
              <a:rPr lang="en-US" dirty="0" err="1"/>
              <a:t>phát</a:t>
            </a:r>
            <a:r>
              <a:rPr lang="en-US" dirty="0"/>
              <a:t> </a:t>
            </a:r>
            <a:r>
              <a:rPr lang="en-US" dirty="0" err="1"/>
              <a:t>sinh</a:t>
            </a:r>
            <a:r>
              <a:rPr lang="en-US" dirty="0"/>
              <a:t> </a:t>
            </a:r>
            <a:r>
              <a:rPr lang="en-US" dirty="0" err="1"/>
              <a:t>thông</a:t>
            </a:r>
            <a:r>
              <a:rPr lang="en-US" dirty="0"/>
              <a:t> </a:t>
            </a:r>
            <a:r>
              <a:rPr lang="en-US" dirty="0" err="1"/>
              <a:t>báo</a:t>
            </a:r>
            <a:r>
              <a:rPr lang="en-US" dirty="0"/>
              <a:t> </a:t>
            </a:r>
            <a:r>
              <a:rPr lang="en-US" dirty="0" err="1"/>
              <a:t>hệ</a:t>
            </a:r>
            <a:r>
              <a:rPr lang="en-US" dirty="0"/>
              <a:t> </a:t>
            </a:r>
            <a:r>
              <a:rPr lang="en-US" dirty="0" err="1"/>
              <a:t>thống</a:t>
            </a:r>
            <a:r>
              <a:rPr lang="en-US" dirty="0">
                <a:latin typeface="Calibri" panose="020F0502020204030204" pitchFamily="34" charset="0"/>
                <a:ea typeface="Calibri" panose="020F0502020204030204" pitchFamily="34" charset="0"/>
                <a:cs typeface="Calibri" panose="020F0502020204030204" pitchFamily="34" charset="0"/>
              </a:rPr>
              <a:t> [3 days]</a:t>
            </a:r>
          </a:p>
        </p:txBody>
      </p:sp>
    </p:spTree>
    <p:extLst>
      <p:ext uri="{BB962C8B-B14F-4D97-AF65-F5344CB8AC3E}">
        <p14:creationId xmlns:p14="http://schemas.microsoft.com/office/powerpoint/2010/main" val="975324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6A5620-CF14-9D88-63C6-734E72492774}"/>
              </a:ext>
            </a:extLst>
          </p:cNvPr>
          <p:cNvSpPr>
            <a:spLocks noGrp="1"/>
          </p:cNvSpPr>
          <p:nvPr>
            <p:ph type="title"/>
          </p:nvPr>
        </p:nvSpPr>
        <p:spPr>
          <a:xfrm>
            <a:off x="457200" y="274638"/>
            <a:ext cx="8229600" cy="665162"/>
          </a:xfrm>
        </p:spPr>
        <p:txBody>
          <a:bodyPr>
            <a:normAutofit fontScale="90000"/>
          </a:bodyPr>
          <a:lstStyle/>
          <a:p>
            <a:r>
              <a:rPr lang="en-US" dirty="0" err="1"/>
              <a:t>Ví</a:t>
            </a:r>
            <a:r>
              <a:rPr lang="en-US" dirty="0"/>
              <a:t> </a:t>
            </a:r>
            <a:r>
              <a:rPr lang="en-US" dirty="0" err="1"/>
              <a:t>dụ</a:t>
            </a:r>
            <a:endParaRPr lang="en-US" dirty="0"/>
          </a:p>
        </p:txBody>
      </p:sp>
      <p:sp>
        <p:nvSpPr>
          <p:cNvPr id="3" name="Content Placeholder 2">
            <a:extLst>
              <a:ext uri="{FF2B5EF4-FFF2-40B4-BE49-F238E27FC236}">
                <a16:creationId xmlns:a16="http://schemas.microsoft.com/office/drawing/2014/main" id="{0EEDEEE2-BC1C-B8C0-7901-74B896374FA3}"/>
              </a:ext>
            </a:extLst>
          </p:cNvPr>
          <p:cNvSpPr>
            <a:spLocks noGrp="1"/>
          </p:cNvSpPr>
          <p:nvPr>
            <p:ph idx="1"/>
          </p:nvPr>
        </p:nvSpPr>
        <p:spPr>
          <a:xfrm>
            <a:off x="457200" y="1210734"/>
            <a:ext cx="8229600" cy="4915430"/>
          </a:xfrm>
        </p:spPr>
        <p:txBody>
          <a:bodyPr>
            <a:normAutofit/>
          </a:bodyPr>
          <a:lstStyle/>
          <a:p>
            <a:pPr marL="0" indent="0" algn="just">
              <a:buNone/>
            </a:pPr>
            <a:r>
              <a:rPr lang="vi-VN" dirty="0">
                <a:latin typeface="Calibri (Body)"/>
              </a:rPr>
              <a:t>4.2. </a:t>
            </a:r>
            <a:r>
              <a:rPr lang="vi-VN" b="1" dirty="0">
                <a:latin typeface="Calibri (Body)"/>
              </a:rPr>
              <a:t>Quản lý tồn kho theo thời gian thực</a:t>
            </a:r>
            <a:endParaRPr lang="en-US" b="1" dirty="0">
              <a:latin typeface="Calibri (Body)"/>
            </a:endParaRPr>
          </a:p>
          <a:p>
            <a:pPr marL="400050" lvl="1" indent="0" algn="just">
              <a:buNone/>
            </a:pPr>
            <a:r>
              <a:rPr lang="vi-VN" dirty="0">
                <a:latin typeface="Calibri" panose="020F0502020204030204" pitchFamily="34" charset="0"/>
                <a:ea typeface="Calibri" panose="020F0502020204030204" pitchFamily="34" charset="0"/>
                <a:cs typeface="Calibri" panose="020F0502020204030204" pitchFamily="34" charset="0"/>
              </a:rPr>
              <a:t>4.2.1. Mô tả chi tiết objective theo SMART</a:t>
            </a:r>
            <a:r>
              <a:rPr lang="en-US" dirty="0">
                <a:latin typeface="Calibri" panose="020F0502020204030204" pitchFamily="34" charset="0"/>
                <a:ea typeface="Calibri" panose="020F0502020204030204" pitchFamily="34" charset="0"/>
                <a:cs typeface="Calibri" panose="020F0502020204030204" pitchFamily="34" charset="0"/>
              </a:rPr>
              <a:t>: </a:t>
            </a:r>
            <a:r>
              <a:rPr lang="vi-VN" dirty="0">
                <a:latin typeface="Calibri" panose="020F0502020204030204" pitchFamily="34" charset="0"/>
                <a:ea typeface="Calibri" panose="020F0502020204030204" pitchFamily="34" charset="0"/>
                <a:cs typeface="Calibri" panose="020F0502020204030204" pitchFamily="34" charset="0"/>
              </a:rPr>
              <a:t>Hệ thống theo dõi và cập nhật số lượng tồn kho theo thời gian thực, đảm bảo độ chính xác tồn kho đạt tối thiểu 98%, tự động cảnh báo khi số lượng sản phẩm xuống dưới ngưỡng định nghĩa, và hoàn tất việc cập nhật tồn kho trong vòng 3 giây sau mỗi giao dịch.</a:t>
            </a:r>
            <a:endParaRPr lang="en-US" dirty="0">
              <a:latin typeface="Calibri" panose="020F0502020204030204" pitchFamily="34" charset="0"/>
              <a:ea typeface="Calibri" panose="020F0502020204030204" pitchFamily="34" charset="0"/>
              <a:cs typeface="Calibri" panose="020F0502020204030204" pitchFamily="34" charset="0"/>
            </a:endParaRPr>
          </a:p>
          <a:p>
            <a:pPr marL="400050" lvl="1" indent="0" algn="just">
              <a:buNone/>
            </a:pPr>
            <a:r>
              <a:rPr lang="vi-VN" dirty="0">
                <a:latin typeface="Calibri" panose="020F0502020204030204" pitchFamily="34" charset="0"/>
                <a:ea typeface="Calibri" panose="020F0502020204030204" pitchFamily="34" charset="0"/>
                <a:cs typeface="Calibri" panose="020F0502020204030204" pitchFamily="34" charset="0"/>
              </a:rPr>
              <a:t>4.2.2. </a:t>
            </a:r>
            <a:r>
              <a:rPr lang="en-US" dirty="0" err="1">
                <a:latin typeface="Calibri" panose="020F0502020204030204" pitchFamily="34" charset="0"/>
                <a:ea typeface="Calibri" panose="020F0502020204030204" pitchFamily="34" charset="0"/>
                <a:cs typeface="Calibri" panose="020F0502020204030204" pitchFamily="34" charset="0"/>
              </a:rPr>
              <a:t>Tự</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động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ghi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nhận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và</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cập</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nhật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thay</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đổi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tồn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kho</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khi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phát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sinh</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giao</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dịch</a:t>
            </a:r>
            <a:r>
              <a:rPr lang="en-US" dirty="0">
                <a:latin typeface="Calibri" panose="020F0502020204030204" pitchFamily="34" charset="0"/>
                <a:ea typeface="Calibri" panose="020F0502020204030204" pitchFamily="34" charset="0"/>
                <a:cs typeface="Calibri" panose="020F0502020204030204" pitchFamily="34" charset="0"/>
              </a:rPr>
              <a:t> [2 days]</a:t>
            </a:r>
          </a:p>
          <a:p>
            <a:pPr marL="400050" lvl="1" indent="0" algn="just">
              <a:buNone/>
            </a:pPr>
            <a:r>
              <a:rPr lang="vi-VN" dirty="0">
                <a:latin typeface="Calibri" panose="020F0502020204030204" pitchFamily="34" charset="0"/>
                <a:ea typeface="Calibri" panose="020F0502020204030204" pitchFamily="34" charset="0"/>
                <a:cs typeface="Calibri" panose="020F0502020204030204" pitchFamily="34" charset="0"/>
              </a:rPr>
              <a:t>4.2.3. </a:t>
            </a:r>
            <a:r>
              <a:rPr lang="en-US" dirty="0" err="1">
                <a:latin typeface="Calibri" panose="020F0502020204030204" pitchFamily="34" charset="0"/>
                <a:ea typeface="Calibri" panose="020F0502020204030204" pitchFamily="34" charset="0"/>
                <a:cs typeface="Calibri" panose="020F0502020204030204" pitchFamily="34" charset="0"/>
              </a:rPr>
              <a:t>Đồng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bộ</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dữ</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liệu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tồn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kho</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giữa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các</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kênh</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bán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hàng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và</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hệ</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thống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kho</a:t>
            </a:r>
            <a:r>
              <a:rPr lang="en-US" dirty="0">
                <a:latin typeface="Calibri" panose="020F0502020204030204" pitchFamily="34" charset="0"/>
                <a:ea typeface="Calibri" panose="020F0502020204030204" pitchFamily="34" charset="0"/>
                <a:cs typeface="Calibri" panose="020F0502020204030204" pitchFamily="34" charset="0"/>
              </a:rPr>
              <a:t> [0.5 day]</a:t>
            </a:r>
          </a:p>
          <a:p>
            <a:pPr marL="400050" lvl="1" indent="0" algn="just">
              <a:buNone/>
            </a:pPr>
            <a:r>
              <a:rPr lang="vi-VN" dirty="0">
                <a:latin typeface="Calibri" panose="020F0502020204030204" pitchFamily="34" charset="0"/>
                <a:ea typeface="Calibri" panose="020F0502020204030204" pitchFamily="34" charset="0"/>
                <a:cs typeface="Calibri" panose="020F0502020204030204" pitchFamily="34" charset="0"/>
              </a:rPr>
              <a:t>4.2.4. </a:t>
            </a:r>
            <a:r>
              <a:rPr lang="en-US" dirty="0" err="1">
                <a:latin typeface="Calibri" panose="020F0502020204030204" pitchFamily="34" charset="0"/>
                <a:ea typeface="Calibri" panose="020F0502020204030204" pitchFamily="34" charset="0"/>
                <a:cs typeface="Calibri" panose="020F0502020204030204" pitchFamily="34" charset="0"/>
              </a:rPr>
              <a:t>Tự</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động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phát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sinh</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cảnh</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báo</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tồn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kho</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thấp</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và</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báo</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cáo</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trạng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thái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tồn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kho</a:t>
            </a:r>
            <a:r>
              <a:rPr lang="en-US" dirty="0">
                <a:latin typeface="Calibri" panose="020F0502020204030204" pitchFamily="34" charset="0"/>
                <a:ea typeface="Calibri" panose="020F0502020204030204" pitchFamily="34" charset="0"/>
                <a:cs typeface="Calibri" panose="020F0502020204030204" pitchFamily="34" charset="0"/>
              </a:rPr>
              <a:t> [1.5 days]</a:t>
            </a:r>
          </a:p>
        </p:txBody>
      </p:sp>
    </p:spTree>
    <p:extLst>
      <p:ext uri="{BB962C8B-B14F-4D97-AF65-F5344CB8AC3E}">
        <p14:creationId xmlns:p14="http://schemas.microsoft.com/office/powerpoint/2010/main" val="886379774"/>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TM10001115[[fn=Parcel]]</Template>
  <TotalTime>76</TotalTime>
  <Words>1352</Words>
  <Application>Microsoft Office PowerPoint</Application>
  <PresentationFormat>On-screen Show (4:3)</PresentationFormat>
  <Paragraphs>88</Paragraphs>
  <Slides>12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Calibri</vt:lpstr>
      <vt:lpstr>Calibri (Body)</vt:lpstr>
      <vt:lpstr>Courier New</vt:lpstr>
      <vt:lpstr>Gill Sans MT</vt:lpstr>
      <vt:lpstr>Parcel</vt:lpstr>
      <vt:lpstr>Objectives của Dự án E-commerce</vt:lpstr>
      <vt:lpstr>What are SMART objectives?</vt:lpstr>
      <vt:lpstr>Examples of SMART Objectives</vt:lpstr>
      <vt:lpstr>1. Business Objectives</vt:lpstr>
      <vt:lpstr>2. User / Customer Objectives</vt:lpstr>
      <vt:lpstr>3. Functional Objectives</vt:lpstr>
      <vt:lpstr>4. Technical Objectives</vt:lpstr>
      <vt:lpstr>5. Data &amp; Analytics Objectives</vt:lpstr>
      <vt:lpstr>6. Operation Objectives</vt:lpstr>
      <vt:lpstr>7. Legal &amp; Compliance Objectives</vt:lpstr>
      <vt:lpstr>Ví dụ</vt:lpstr>
      <vt:lpstr>Ví dụ</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Nguyen Khanh</cp:lastModifiedBy>
  <cp:revision>13</cp:revision>
  <dcterms:created xsi:type="dcterms:W3CDTF">2013-01-27T09:14:16Z</dcterms:created>
  <dcterms:modified xsi:type="dcterms:W3CDTF">2026-01-29T06:48:43Z</dcterms:modified>
  <cp:category/>
</cp:coreProperties>
</file>